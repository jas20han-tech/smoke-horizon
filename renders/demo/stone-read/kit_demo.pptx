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autoTitleDeleted val="1"/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(ms)</c:v>
                </c:pt>
              </c:strCache>
            </c:strRef>
          </c:tx>
          <c:dPt>
            <c:idx val="0"/>
            <c:spPr>
              <a:solidFill>
                <a:srgbClr val="CBC5BA"/>
              </a:solidFill>
            </c:spPr>
          </c:dPt>
          <c:dPt>
            <c:idx val="1"/>
            <c:spPr>
              <a:solidFill>
                <a:srgbClr val="CBC5BA"/>
              </a:solidFill>
            </c:spPr>
          </c:dPt>
          <c:dPt>
            <c:idx val="2"/>
            <c:spPr>
              <a:solidFill>
                <a:srgbClr val="CBC5BA"/>
              </a:solidFill>
            </c:spPr>
          </c:dPt>
          <c:dPt>
            <c:idx val="3"/>
            <c:spPr>
              <a:solidFill>
                <a:srgbClr val="2F5D50"/>
              </a:solidFill>
            </c:spPr>
          </c:dPt>
          <c:cat>
            <c:strRef>
              <c:f>Sheet1!$A$2:$A$5</c:f>
              <c:strCache>
                <c:ptCount val="4"/>
                <c:pt idx="0">
                  <c:v>10k peers</c:v>
                </c:pt>
                <c:pt idx="1">
                  <c:v>25k peers</c:v>
                </c:pt>
                <c:pt idx="2">
                  <c:v>50k peers</c:v>
                </c:pt>
                <c:pt idx="3">
                  <c:v>100k peers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240</c:v>
                </c:pt>
                <c:pt idx="2">
                  <c:v>310</c:v>
                </c:pt>
                <c:pt idx="3">
                  <c:v>380</c:v>
                </c:pt>
              </c:numCache>
            </c:numRef>
          </c:val>
        </c:ser>
        <c:dLbls>
          <c:dLbl>
            <c:idx val="3"/>
            <c:numFmt formatCode="#,##0&quot; ms&quot;" sourceLinked="0"/>
            <c:txPr>
              <a:bodyPr/>
              <a:lstStyle/>
              <a:p>
                <a:pPr>
                  <a:defRPr b="1" sz="1100">
                    <a:solidFill>
                      <a:srgbClr val="2F5D5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</c:dLbl>
          <c:numFmt formatCode="#,##0&quot; ms&quot;" sourceLinked="0"/>
          <c:txPr>
            <a:bodyPr/>
            <a:lstStyle/>
            <a:p>
              <a:pPr>
                <a:defRPr sz="1100">
                  <a:solidFill>
                    <a:srgbClr val="5C575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BC5BA"/>
            </a:solidFill>
          </a:ln>
        </c:spPr>
        <c:txPr>
          <a:bodyPr/>
          <a:lstStyle/>
          <a:p>
            <a:pPr>
              <a:defRPr sz="1100">
                <a:solidFill>
                  <a:srgbClr val="5C57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&quot; ms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C575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look at replacing commercial search monopolies with open academic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Centralized search indexes concentrate access to human knowledge in commercial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operates with isolated failure boundaries and independent cryptographic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separates indexing latency from data retrieval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benchmarks were conducted across simulated wide-area network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computation represents the primary computational load during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current deployment focus centers on the European pilot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turn now to empirical observations from live pilot deployments across European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our proof overhead is negligible compared to latency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operational metrics were collected over thirty consecutive days of pilot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Measurements reflect 10k to 100k simulated nodes on wide-area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from external evaluator during the Q2 2026 pilot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invite university system administrators to join our open academic federation.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over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103120"/>
            <a:ext cx="685800" cy="25400"/>
          </a:xfrm>
          <a:prstGeom prst="rect">
            <a:avLst/>
          </a:prstGeom>
          <a:solidFill>
            <a:srgbClr val="8F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kit:title"/>
          <p:cNvSpPr txBox="1"/>
          <p:nvPr/>
        </p:nvSpPr>
        <p:spPr>
          <a:xfrm>
            <a:off x="685800" y="2560320"/>
            <a:ext cx="8057921" cy="16459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1EEE8"/>
                </a:solidFill>
                <a:latin typeface="Georgia"/>
              </a:rPr>
              <a:t>Academic search </a:t>
            </a:r>
            <a:r>
              <a:rPr sz="5400" b="0" i="1">
                <a:solidFill>
                  <a:srgbClr val="F1EEE8"/>
                </a:solidFill>
                <a:latin typeface="Georgia"/>
              </a:rPr>
              <a:t>without a</a:t>
            </a:r>
            <a:r>
              <a:rPr sz="5400" b="0" i="0">
                <a:solidFill>
                  <a:srgbClr val="F1EEE8"/>
                </a:solidFill>
                <a:latin typeface="Georgia"/>
              </a:rPr>
              <a:t> central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49140"/>
            <a:ext cx="8057921" cy="277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A9B0AA"/>
                </a:solidFill>
                <a:latin typeface="Calibri"/>
              </a:rPr>
              <a:t>Verifiable peer retrieval across decentralized research repositories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0"/>
            <a:ext cx="8057921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9B0AA"/>
                </a:solidFill>
                <a:latin typeface="Calibri"/>
              </a:rPr>
              <a:t>Sample deck · Oct 2026 · Distributed Systems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tatement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1751766"/>
            <a:ext cx="8978646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8FB8A6"/>
                </a:solidFill>
                <a:latin typeface="Calibri"/>
              </a:rPr>
              <a:t>THE PROBLEM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2107366"/>
            <a:ext cx="8978646" cy="2468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1EEE8"/>
                </a:solidFill>
                <a:latin typeface="Georgia"/>
              </a:rPr>
              <a:t>Every researcher depends on </a:t>
            </a:r>
            <a:r>
              <a:rPr sz="5400" b="0" i="1">
                <a:solidFill>
                  <a:srgbClr val="F1EEE8"/>
                </a:solidFill>
                <a:latin typeface="Georgia"/>
              </a:rPr>
              <a:t>three private</a:t>
            </a:r>
            <a:r>
              <a:rPr sz="5400" b="0" i="0">
                <a:solidFill>
                  <a:srgbClr val="F1EEE8"/>
                </a:solidFill>
                <a:latin typeface="Georgia"/>
              </a:rPr>
              <a:t> cloud providers for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919146"/>
            <a:ext cx="8978646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9B0AA"/>
                </a:solidFill>
                <a:latin typeface="Calibri"/>
              </a:rPr>
              <a:t>ACM Computing Surveys, Vol.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olumns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ARCHITECTURE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Three decoupled tiers isolate storage and verification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85480"/>
            <a:ext cx="8978646" cy="277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E1D1B"/>
                </a:solidFill>
                <a:latin typeface="Calibri"/>
              </a:rPr>
              <a:t>Independent layers prevent cascade failures across peer institutions.</a:t>
            </a:r>
          </a:p>
        </p:txBody>
      </p:sp>
      <p:cxnSp>
        <p:nvCxnSpPr>
          <p:cNvPr id="7" name="kit:hairline"/>
          <p:cNvCxnSpPr/>
          <p:nvPr/>
        </p:nvCxnSpPr>
        <p:spPr>
          <a:xfrm>
            <a:off x="685800" y="3205545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8" name="kit:hairline:2"/>
          <p:cNvCxnSpPr/>
          <p:nvPr/>
        </p:nvCxnSpPr>
        <p:spPr>
          <a:xfrm>
            <a:off x="4368698" y="3205545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9" name="kit:hairline:3"/>
          <p:cNvCxnSpPr/>
          <p:nvPr/>
        </p:nvCxnSpPr>
        <p:spPr>
          <a:xfrm>
            <a:off x="8051596" y="3205545"/>
            <a:ext cx="3454299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85800" y="3434145"/>
            <a:ext cx="3454298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2F5D50"/>
                </a:solidFill>
                <a:latin typeface="Calibri"/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3434145"/>
            <a:ext cx="3454298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2F5D50"/>
                </a:solidFill>
                <a:latin typeface="Calibr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1596" y="3434145"/>
            <a:ext cx="3454298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2F5D50"/>
                </a:solidFill>
                <a:latin typeface="Calibri"/>
              </a:rP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75445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E1D1B"/>
                </a:solidFill>
                <a:latin typeface="Georgia"/>
              </a:rPr>
              <a:t>38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675445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E1D1B"/>
                </a:solidFill>
                <a:latin typeface="Georgia"/>
              </a:rPr>
              <a:t>12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3675445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E1D1B"/>
                </a:solidFill>
                <a:latin typeface="Georgia"/>
              </a:rPr>
              <a:t>2.4 TB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38385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Query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38385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Proof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1596" y="4338385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Local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31109"/>
            <a:ext cx="3454298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Kademlia DHT locates candidate nodes in under four hops with deterministic bounds.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4731109"/>
            <a:ext cx="3454298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SNARK verifiers confirm index integrity before answering any user request.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596" y="4731109"/>
            <a:ext cx="3454298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Immutable content chunks stay pin-verified on campus hardware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plit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DATA FLOW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Queries resolve across authenticated peer clusters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4</a:t>
            </a:r>
          </a:p>
        </p:txBody>
      </p:sp>
      <p:sp>
        <p:nvSpPr>
          <p:cNvPr id="6" name="kit:panel"/>
          <p:cNvSpPr/>
          <p:nvPr/>
        </p:nvSpPr>
        <p:spPr>
          <a:xfrm>
            <a:off x="5289423" y="2115007"/>
            <a:ext cx="6216472" cy="921715"/>
          </a:xfrm>
          <a:prstGeom prst="roundRect">
            <a:avLst>
              <a:gd name="adj" fmla="val 5952"/>
            </a:avLst>
          </a:prstGeom>
          <a:solidFill>
            <a:srgbClr val="E3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18023" y="2224745"/>
            <a:ext cx="5759272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2F5D50"/>
                </a:solidFill>
                <a:latin typeface="Calibri"/>
              </a:rPr>
              <a:t>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8023" y="2406609"/>
            <a:ext cx="5759272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Query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8023" y="2739898"/>
            <a:ext cx="5759272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5750"/>
                </a:solidFill>
                <a:latin typeface="Calibri"/>
              </a:rPr>
              <a:t>Client applications dispatch federated multi-hop searches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97659" y="3073298"/>
            <a:ext cx="0" cy="475488"/>
          </a:xfrm>
          <a:prstGeom prst="line">
            <a:avLst/>
          </a:prstGeom>
          <a:ln w="12700">
            <a:solidFill>
              <a:srgbClr val="5C5750"/>
            </a:solidFill>
            <a:tailEnd type="triangle" w="med" len="med"/>
          </a:ln>
        </p:spPr>
      </p:cxnSp>
      <p:sp>
        <p:nvSpPr>
          <p:cNvPr id="11" name="kit:panel:2"/>
          <p:cNvSpPr/>
          <p:nvPr/>
        </p:nvSpPr>
        <p:spPr>
          <a:xfrm>
            <a:off x="5289423" y="3585362"/>
            <a:ext cx="6216472" cy="921715"/>
          </a:xfrm>
          <a:prstGeom prst="roundRect">
            <a:avLst>
              <a:gd name="adj" fmla="val 5952"/>
            </a:avLst>
          </a:prstGeom>
          <a:solidFill>
            <a:srgbClr val="E3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8023" y="3695100"/>
            <a:ext cx="5759272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ROUTING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8023" y="3876964"/>
            <a:ext cx="5759272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Distributed Index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8023" y="4210253"/>
            <a:ext cx="5759272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5750"/>
                </a:solidFill>
                <a:latin typeface="Calibri"/>
              </a:rPr>
              <a:t>Cryptographic DHT routes and validates candidate hits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97659" y="4543653"/>
            <a:ext cx="0" cy="475488"/>
          </a:xfrm>
          <a:prstGeom prst="line">
            <a:avLst/>
          </a:prstGeom>
          <a:ln w="12700">
            <a:solidFill>
              <a:srgbClr val="5C5750"/>
            </a:solidFill>
            <a:tailEnd type="triangle" w="med" len="med"/>
          </a:ln>
        </p:spPr>
      </p:cxnSp>
      <p:sp>
        <p:nvSpPr>
          <p:cNvPr id="16" name="kit:panel:3"/>
          <p:cNvSpPr/>
          <p:nvPr/>
        </p:nvSpPr>
        <p:spPr>
          <a:xfrm>
            <a:off x="5289423" y="5055717"/>
            <a:ext cx="6216472" cy="921715"/>
          </a:xfrm>
          <a:prstGeom prst="roundRect">
            <a:avLst>
              <a:gd name="adj" fmla="val 5952"/>
            </a:avLst>
          </a:prstGeom>
          <a:solidFill>
            <a:srgbClr val="E3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8023" y="5165455"/>
            <a:ext cx="5759272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STORAGE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8023" y="5347319"/>
            <a:ext cx="5759272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Verifiable Storage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8023" y="5680608"/>
            <a:ext cx="5759272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5750"/>
                </a:solidFill>
                <a:latin typeface="Calibri"/>
              </a:rPr>
              <a:t>Immutable chunks pinned across peer university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70235"/>
            <a:ext cx="4375023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Direct peer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62960"/>
            <a:ext cx="4375023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Client apps dispatch parallel queries to nearby routing nodes without touching central gateways.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17670"/>
            <a:ext cx="4375023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Cryptographic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0394"/>
            <a:ext cx="4375023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Index proofs return alongside query hits, guaranteeing that results match published documents.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big_number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SEARCH LATENCY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QPeer answers in 380 ms at 100,000 peers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375023" cy="1287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8800" b="0" i="0">
                <a:solidFill>
                  <a:srgbClr val="2F5D50"/>
                </a:solidFill>
                <a:latin typeface="Georgia"/>
              </a:rPr>
              <a:t>380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9175"/>
            <a:ext cx="4375023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5750"/>
                </a:solidFill>
                <a:latin typeface="Calibri"/>
              </a:rPr>
              <a:t>P95 search latency, 100k simulated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2057400"/>
            <a:ext cx="5295747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vs Chord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2450124"/>
            <a:ext cx="5295747" cy="2251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Chord requires 1,420 ms under identical network churn.</a:t>
            </a:r>
          </a:p>
        </p:txBody>
      </p:sp>
      <p:cxnSp>
        <p:nvCxnSpPr>
          <p:cNvPr id="10" name="kit:hairline"/>
          <p:cNvCxnSpPr/>
          <p:nvPr/>
        </p:nvCxnSpPr>
        <p:spPr>
          <a:xfrm>
            <a:off x="6210147" y="2846771"/>
            <a:ext cx="529574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210147" y="3018221"/>
            <a:ext cx="5295747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vs Kademlia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410945"/>
            <a:ext cx="5295747" cy="2251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Default routing averages 980 ms on 50 hops.</a:t>
            </a:r>
          </a:p>
        </p:txBody>
      </p:sp>
      <p:cxnSp>
        <p:nvCxnSpPr>
          <p:cNvPr id="13" name="kit:hairline:2"/>
          <p:cNvCxnSpPr/>
          <p:nvPr/>
        </p:nvCxnSpPr>
        <p:spPr>
          <a:xfrm>
            <a:off x="6210147" y="3807592"/>
            <a:ext cx="529574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10147" y="3979042"/>
            <a:ext cx="5295747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Network bandwidth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4371766"/>
            <a:ext cx="5295747" cy="2251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Proof payloads consume only 42 bytes per result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process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VERIFICATION PIPELINE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Four stages guarantee zero-knowledge proof validity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6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983207"/>
            <a:ext cx="10820095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7" name="kit:node"/>
          <p:cNvSpPr/>
          <p:nvPr/>
        </p:nvSpPr>
        <p:spPr>
          <a:xfrm>
            <a:off x="685800" y="2910055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E1D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kit:node:2"/>
          <p:cNvSpPr/>
          <p:nvPr/>
        </p:nvSpPr>
        <p:spPr>
          <a:xfrm>
            <a:off x="3447973" y="2910055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E1D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t:node:3"/>
          <p:cNvSpPr/>
          <p:nvPr/>
        </p:nvSpPr>
        <p:spPr>
          <a:xfrm>
            <a:off x="6210147" y="2910055"/>
            <a:ext cx="146304" cy="146304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it:node:4"/>
          <p:cNvSpPr/>
          <p:nvPr/>
        </p:nvSpPr>
        <p:spPr>
          <a:xfrm>
            <a:off x="8972321" y="2910055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E1D1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11807"/>
            <a:ext cx="2533573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3211807"/>
            <a:ext cx="2533573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3211807"/>
            <a:ext cx="2533573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321" y="3211807"/>
            <a:ext cx="2533573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STEP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40407"/>
            <a:ext cx="2533573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Ingest 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973" y="3440407"/>
            <a:ext cx="2533573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Hash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440407"/>
            <a:ext cx="2533573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Compute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2321" y="3440407"/>
            <a:ext cx="2533573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Broadcast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33132"/>
            <a:ext cx="2533573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Shard payloads into 32 KB verified blocks.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973" y="3833132"/>
            <a:ext cx="2533573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Build localized Merkle DAG over document metadata.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833132"/>
            <a:ext cx="2533573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Generate succinct zero-knowledge membership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3833132"/>
            <a:ext cx="2533573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Publish verifiable state root to neighboring nodes.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59242"/>
            <a:ext cx="2533573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D50"/>
                </a:solidFill>
                <a:latin typeface="Calibri"/>
              </a:rPr>
              <a:t>32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973" y="4459242"/>
            <a:ext cx="2533573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D50"/>
                </a:solidFill>
                <a:latin typeface="Calibri"/>
              </a:rPr>
              <a:t>SHA-256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147" y="4459242"/>
            <a:ext cx="2533573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D50"/>
                </a:solidFill>
                <a:latin typeface="Calibri"/>
              </a:rPr>
              <a:t>12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2321" y="4459242"/>
            <a:ext cx="2533573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D50"/>
                </a:solidFill>
                <a:latin typeface="Calibri"/>
              </a:rPr>
              <a:t>42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timeline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ROADMAP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Production testbeds deploy across three phases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7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3213327"/>
            <a:ext cx="3682898" cy="0"/>
          </a:xfrm>
          <a:prstGeom prst="line">
            <a:avLst/>
          </a:prstGeom>
          <a:ln w="9525">
            <a:solidFill>
              <a:srgbClr val="1E1D1B"/>
            </a:solidFill>
          </a:ln>
        </p:spPr>
      </p:cxnSp>
      <p:cxnSp>
        <p:nvCxnSpPr>
          <p:cNvPr id="7" name="kit:hairline:2"/>
          <p:cNvCxnSpPr/>
          <p:nvPr/>
        </p:nvCxnSpPr>
        <p:spPr>
          <a:xfrm>
            <a:off x="4368698" y="3213327"/>
            <a:ext cx="7137197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8" name="kit:node"/>
          <p:cNvSpPr/>
          <p:nvPr/>
        </p:nvSpPr>
        <p:spPr>
          <a:xfrm>
            <a:off x="685800" y="3140175"/>
            <a:ext cx="146304" cy="146304"/>
          </a:xfrm>
          <a:prstGeom prst="ellipse">
            <a:avLst/>
          </a:prstGeom>
          <a:solidFill>
            <a:srgbClr val="1E1D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kit:node:2"/>
          <p:cNvSpPr/>
          <p:nvPr/>
        </p:nvSpPr>
        <p:spPr>
          <a:xfrm>
            <a:off x="4368698" y="3140175"/>
            <a:ext cx="146304" cy="146304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kit:node:3"/>
          <p:cNvSpPr/>
          <p:nvPr/>
        </p:nvSpPr>
        <p:spPr>
          <a:xfrm>
            <a:off x="8051596" y="3140175"/>
            <a:ext cx="146304" cy="146304"/>
          </a:xfrm>
          <a:prstGeom prst="ellipse">
            <a:avLst/>
          </a:prstGeom>
          <a:solidFill>
            <a:srgbClr val="F1EEE8"/>
          </a:solidFill>
          <a:ln w="12700">
            <a:solidFill>
              <a:srgbClr val="CBC5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41927"/>
            <a:ext cx="3454298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Q1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3441927"/>
            <a:ext cx="3454298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2F5D50"/>
                </a:solidFill>
                <a:latin typeface="Calibri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1596" y="3441927"/>
            <a:ext cx="3454298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Q2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83227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Protocol specification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3683227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Ten campus pilot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1596" y="3683227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Public mainnet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75952"/>
            <a:ext cx="3454298" cy="2251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WAN simulator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075952"/>
            <a:ext cx="3454298" cy="2251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50,000 live researchers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1596" y="4075952"/>
            <a:ext cx="3454298" cy="2251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Universal archive indexing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section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377440"/>
            <a:ext cx="7137196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8FB8A6"/>
                </a:solidFill>
                <a:latin typeface="Georgia"/>
              </a:rPr>
              <a:t>02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3154680"/>
            <a:ext cx="7137196" cy="16459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1EEE8"/>
                </a:solidFill>
                <a:latin typeface="Georgia"/>
              </a:rPr>
              <a:t>Evaluation across ten university testbeds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table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BENCHMARKS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QPeer is within 1.6x of a central index, with proofs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659587"/>
          <a:ext cx="10820094" cy="217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454"/>
                <a:gridCol w="2962155"/>
                <a:gridCol w="2674168"/>
                <a:gridCol w="2523317"/>
              </a:tblGrid>
              <a:tr h="355600">
                <a:tc>
                  <a:txBody>
                    <a:bodyPr lIns="0" rIns="0"/>
                    <a:lstStyle/>
                    <a:p>
                      <a:pPr algn="l">
                        <a:defRPr sz="10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0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TOPOLOGY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0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P95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000" b="1">
                          <a:solidFill>
                            <a:srgbClr val="5C5750"/>
                          </a:solidFill>
                          <a:latin typeface="Calibri"/>
                        </a:defRPr>
                      </a:pPr>
                      <a:r>
                        <a:t>PROOF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E1D1B"/>
                      </a:solidFill>
                    </a:lnB>
                    <a:noFill/>
                  </a:tcPr>
                </a:tc>
              </a:tr>
              <a:tr h="453796">
                <a:tc>
                  <a:txBody>
                    <a:bodyPr lIns="0" rIns="0"/>
                    <a:lstStyle/>
                    <a:p>
                      <a:pPr algn="l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Elasticsearch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Centralized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240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</a:tr>
              <a:tr h="453796">
                <a:tc>
                  <a:txBody>
                    <a:bodyPr lIns="0" rIns="0"/>
                    <a:lstStyle/>
                    <a:p>
                      <a:pPr algn="l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Chord 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Structured P2P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1,420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</a:tr>
              <a:tr h="453796">
                <a:tc>
                  <a:txBody>
                    <a:bodyPr lIns="0" rIns="0"/>
                    <a:lstStyle/>
                    <a:p>
                      <a:pPr algn="l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Kademlia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DHT overlay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980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0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noFill/>
                  </a:tcPr>
                </a:tc>
              </a:tr>
              <a:tr h="453796">
                <a:tc>
                  <a:txBody>
                    <a:bodyPr lIns="0" rIns="0"/>
                    <a:lstStyle/>
                    <a:p>
                      <a:pPr algn="l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QPeer (ours)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l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Verifiable DHT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380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  <a:tc>
                  <a:txBody>
                    <a:bodyPr lIns="0" rIns="0"/>
                    <a:lstStyle/>
                    <a:p>
                      <a:pPr algn="r">
                        <a:defRPr sz="1300" b="1">
                          <a:solidFill>
                            <a:srgbClr val="1E1D1B"/>
                          </a:solidFill>
                          <a:latin typeface="Calibri"/>
                        </a:defRPr>
                      </a:pPr>
                      <a:r>
                        <a:t>42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BC5BA"/>
                      </a:solidFill>
                    </a:lnB>
                    <a:solidFill>
                      <a:srgbClr val="DCE5D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944672"/>
            <a:ext cx="10820095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5750"/>
                </a:solidFill>
                <a:latin typeface="Calibri"/>
              </a:rPr>
              <a:t>Simulated over 100,000 peers with 5% hourly node turnover.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metrics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FIELD PERFORMANCE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Production pilots confirm theoretical bounds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10</a:t>
            </a:r>
          </a:p>
        </p:txBody>
      </p:sp>
      <p:cxnSp>
        <p:nvCxnSpPr>
          <p:cNvPr id="6" name="kit:hairline"/>
          <p:cNvCxnSpPr/>
          <p:nvPr/>
        </p:nvCxnSpPr>
        <p:spPr>
          <a:xfrm>
            <a:off x="685800" y="2580400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7" name="kit:hairline:2"/>
          <p:cNvCxnSpPr/>
          <p:nvPr/>
        </p:nvCxnSpPr>
        <p:spPr>
          <a:xfrm>
            <a:off x="4368698" y="2580400"/>
            <a:ext cx="3454298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cxnSp>
        <p:nvCxnSpPr>
          <p:cNvPr id="8" name="kit:hairline:3"/>
          <p:cNvCxnSpPr/>
          <p:nvPr/>
        </p:nvCxnSpPr>
        <p:spPr>
          <a:xfrm>
            <a:off x="8051596" y="2580400"/>
            <a:ext cx="3454299" cy="0"/>
          </a:xfrm>
          <a:prstGeom prst="line">
            <a:avLst/>
          </a:prstGeom>
          <a:ln w="9525">
            <a:solidFill>
              <a:srgbClr val="CBC5B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85800" y="2809000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2F5D50"/>
                </a:solidFill>
                <a:latin typeface="Georgia"/>
              </a:rPr>
              <a:t>380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809000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E1D1B"/>
                </a:solidFill>
                <a:latin typeface="Georgia"/>
              </a:rPr>
              <a:t>99.99%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596" y="2809000"/>
            <a:ext cx="345429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E1D1B"/>
                </a:solidFill>
                <a:latin typeface="Georgia"/>
              </a:rPr>
              <a:t>3.7x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1940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P95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3471940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Proof validity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596" y="3471940"/>
            <a:ext cx="3454298" cy="2784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E1D1B"/>
                </a:solidFill>
                <a:latin typeface="Calibri"/>
              </a:rPr>
              <a:t>Faster than Chord, P95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64664"/>
            <a:ext cx="3454298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Same 100,000-peer simulation, ten campus nodes in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3864664"/>
            <a:ext cx="3454298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Mathematical verification rate over four million test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1596" y="3864664"/>
            <a:ext cx="3454298" cy="5118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D1B"/>
                </a:solidFill>
                <a:latin typeface="Calibri"/>
              </a:rPr>
              <a:t>1,420 ms vs 380 ms on the same workload.</a:t>
            </a:r>
          </a:p>
        </p:txBody>
      </p:sp>
      <p:sp>
        <p:nvSpPr>
          <p:cNvPr id="18" name="kit:hairline:4"/>
          <p:cNvSpPr/>
          <p:nvPr/>
        </p:nvSpPr>
        <p:spPr>
          <a:xfrm>
            <a:off x="685800" y="4833674"/>
            <a:ext cx="685800" cy="254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73374"/>
            <a:ext cx="10820095" cy="277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E1D1B"/>
                </a:solidFill>
                <a:latin typeface="Calibri"/>
              </a:rPr>
              <a:t>Zero verification failures recorded across four million queries in thirty days of pilot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hart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685800" y="548640"/>
            <a:ext cx="10820095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5C5750"/>
                </a:solidFill>
                <a:latin typeface="Calibri"/>
              </a:rPr>
              <a:t>SCALABILITY</a:t>
            </a:r>
          </a:p>
        </p:txBody>
      </p:sp>
      <p:sp>
        <p:nvSpPr>
          <p:cNvPr id="3" name="kit:title"/>
          <p:cNvSpPr txBox="1"/>
          <p:nvPr/>
        </p:nvSpPr>
        <p:spPr>
          <a:xfrm>
            <a:off x="685800" y="822960"/>
            <a:ext cx="10820095" cy="435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E1D1B"/>
                </a:solidFill>
                <a:latin typeface="Georgia"/>
              </a:rPr>
              <a:t>Query latency scales logarithmically with network size</a:t>
            </a:r>
          </a:p>
        </p:txBody>
      </p:sp>
      <p:sp>
        <p:nvSpPr>
          <p:cNvPr id="4" name="kit:footer"/>
          <p:cNvSpPr txBox="1"/>
          <p:nvPr/>
        </p:nvSpPr>
        <p:spPr>
          <a:xfrm>
            <a:off x="685800" y="6355080"/>
            <a:ext cx="4572000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QPeer</a:t>
            </a:r>
          </a:p>
        </p:txBody>
      </p:sp>
      <p:sp>
        <p:nvSpPr>
          <p:cNvPr id="5" name="kit:footer:2"/>
          <p:cNvSpPr txBox="1"/>
          <p:nvPr/>
        </p:nvSpPr>
        <p:spPr>
          <a:xfrm>
            <a:off x="6210147" y="6355080"/>
            <a:ext cx="5295747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5750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057400"/>
          <a:ext cx="7137196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51596" y="3573780"/>
            <a:ext cx="3454298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E1D1B"/>
                </a:solidFill>
                <a:latin typeface="Calibri"/>
              </a:rPr>
              <a:t>Hop count grows as O(log N), keeping queries sub-second even as the network expands tenfold.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quote">
    <p:bg>
      <p:bgPr>
        <a:solidFill>
          <a:srgbClr val="F1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eyebrow"/>
          <p:cNvSpPr txBox="1"/>
          <p:nvPr/>
        </p:nvSpPr>
        <p:spPr>
          <a:xfrm>
            <a:off x="1606524" y="1730597"/>
            <a:ext cx="8057921" cy="12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150">
                <a:solidFill>
                  <a:srgbClr val="2F5D50"/>
                </a:solidFill>
                <a:latin typeface="Calibri"/>
              </a:rPr>
              <a:t>INDEPENDENT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6524" y="2086197"/>
            <a:ext cx="8057921" cy="16459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2F5D50"/>
                </a:solidFill>
                <a:latin typeface="Georgia"/>
              </a:rPr>
              <a:t>“</a:t>
            </a:r>
            <a:r>
              <a:rPr sz="3600" b="0" i="1">
                <a:solidFill>
                  <a:srgbClr val="1E1D1B"/>
                </a:solidFill>
                <a:latin typeface="Georgia"/>
              </a:rPr>
              <a:t>Decentralized search is no longer a theoretical exercise; QPeer proves it can run at campus scale.”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6524" y="4075017"/>
            <a:ext cx="8057921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5750"/>
                </a:solidFill>
                <a:latin typeface="Calibri"/>
              </a:rPr>
              <a:t>Dr. Elena Rostova, Open Science Foundation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out:closing">
    <p:bg>
      <p:bgPr>
        <a:solidFill>
          <a:srgbClr val="1F2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t:title"/>
          <p:cNvSpPr txBox="1"/>
          <p:nvPr/>
        </p:nvSpPr>
        <p:spPr>
          <a:xfrm>
            <a:off x="685800" y="1645920"/>
            <a:ext cx="8978646" cy="16459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1EEE8"/>
                </a:solidFill>
                <a:latin typeface="Georgia"/>
              </a:rPr>
              <a:t>Three steps to join the academic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749039"/>
            <a:ext cx="8978646" cy="277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1EEE8"/>
                </a:solidFill>
                <a:latin typeface="Calibri"/>
              </a:rPr>
              <a:t>1.  Deploy one reference node container on departmental compute.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254804"/>
            <a:ext cx="8978646" cy="277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1EEE8"/>
                </a:solidFill>
                <a:latin typeface="Calibri"/>
              </a:rPr>
              <a:t>2.  Federate institutional document repositories via the open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60569"/>
            <a:ext cx="8978646" cy="277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1EEE8"/>
                </a:solidFill>
                <a:latin typeface="Calibri"/>
              </a:rPr>
              <a:t>3.  Participate in weekly protocol synchronization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35040"/>
            <a:ext cx="8978646" cy="1870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9B0AA"/>
                </a:solidFill>
                <a:latin typeface="Calibri"/>
              </a:rPr>
              <a:t>research@qpeer.org · https://qpeer.org · Github: qpeer-protocol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>ppt-design;theme=stone;density=read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