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autoTitleDeleted val="1"/>
  <c:date1904 val="0"/>
  <c:chart>
    <c:autoTitleDeleted val="1"/>
    <c:plotArea>
      <c:barChart>
        <c:barDir val="col"/>
        <c:grouping val="clustered"/>
        <c:ser>
          <c:idx val="0"/>
          <c:order val="0"/>
          <c:tx>
            <c:strRef>
              <c:f>Sheet1!$B$1</c:f>
              <c:strCache>
                <c:ptCount val="1"/>
                <c:pt idx="0">
                  <c:v>Concentration factor</c:v>
                </c:pt>
              </c:strCache>
            </c:strRef>
          </c:tx>
          <c:dPt>
            <c:idx val="0"/>
            <c:spPr>
              <a:solidFill>
                <a:srgbClr val="2F5D50"/>
              </a:solidFill>
            </c:spPr>
          </c:dPt>
          <c:dPt>
            <c:idx val="1"/>
            <c:spPr>
              <a:solidFill>
                <a:srgbClr val="CBC5BA"/>
              </a:solidFill>
            </c:spPr>
          </c:dPt>
          <c:dPt>
            <c:idx val="2"/>
            <c:spPr>
              <a:solidFill>
                <a:srgbClr val="CBC5BA"/>
              </a:solidFill>
            </c:spPr>
          </c:dPt>
          <c:dPt>
            <c:idx val="3"/>
            <c:spPr>
              <a:solidFill>
                <a:srgbClr val="CBC5BA"/>
              </a:solidFill>
            </c:spPr>
          </c:dPt>
          <c:dPt>
            <c:idx val="4"/>
            <c:spPr>
              <a:solidFill>
                <a:srgbClr val="CBC5BA"/>
              </a:solidFill>
            </c:spPr>
          </c:dPt>
          <c:cat>
            <c:strRef>
              <c:f>Sheet1!$A$2:$A$6</c:f>
              <c:strCache>
                <c:ptCount val="5"/>
                <c:pt idx="0">
                  <c:v>150 m</c:v>
                </c:pt>
                <c:pt idx="1">
                  <c:v>250 m</c:v>
                </c:pt>
                <c:pt idx="2">
                  <c:v>500 m</c:v>
                </c:pt>
                <c:pt idx="3">
                  <c:v>750 m</c:v>
                </c:pt>
                <c:pt idx="4">
                  <c:v>1000 m</c:v>
                </c:pt>
              </c:strCache>
            </c:strRef>
          </c:cat>
          <c:val>
            <c:numRef>
              <c:f>Sheet1!$B$2:$B$6</c:f>
              <c:numCache>
                <c:formatCode>General</c:formatCode>
                <c:ptCount val="5"/>
                <c:pt idx="0">
                  <c:v>3.0</c:v>
                </c:pt>
                <c:pt idx="1">
                  <c:v>2.3</c:v>
                </c:pt>
                <c:pt idx="2">
                  <c:v>1.6</c:v>
                </c:pt>
                <c:pt idx="3">
                  <c:v>1.2</c:v>
                </c:pt>
                <c:pt idx="4">
                  <c:v>1.0</c:v>
                </c:pt>
              </c:numCache>
            </c:numRef>
          </c:val>
        </c:ser>
        <c:dLbls>
          <c:dLbl>
            <c:idx val="0"/>
            <c:numFmt formatCode="0.0&quot;x&quot;" sourceLinked="0"/>
            <c:txPr>
              <a:bodyPr/>
              <a:lstStyle/>
              <a:p>
                <a:pPr>
                  <a:defRPr b="1" sz="1400">
                    <a:solidFill>
                      <a:srgbClr val="2F5D50"/>
                    </a:solidFill>
                    <a:latin typeface="Calibri"/>
                  </a:defRPr>
                </a:pPr>
              </a:p>
            </c:txPr>
            <c:showLegendKey val="0"/>
            <c:showVal val="1"/>
            <c:showCatName val="0"/>
            <c:showSerName val="0"/>
            <c:showPercent val="0"/>
          </c:dLbl>
          <c:numFmt formatCode="0.0&quot;x&quot;" sourceLinked="0"/>
          <c:txPr>
            <a:bodyPr/>
            <a:lstStyle/>
            <a:p>
              <a:pPr>
                <a:defRPr sz="1400">
                  <a:solidFill>
                    <a:srgbClr val="5C5750"/>
                  </a:solidFill>
                  <a:latin typeface="Calibri"/>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w="9525">
            <a:solidFill>
              <a:srgbClr val="CBC5BA"/>
            </a:solidFill>
          </a:ln>
        </c:spPr>
        <c:txPr>
          <a:bodyPr/>
          <a:lstStyle/>
          <a:p>
            <a:pPr>
              <a:defRPr sz="1400">
                <a:solidFill>
                  <a:srgbClr val="5C5750"/>
                </a:solidFill>
                <a:latin typeface="Calibri"/>
              </a:defRPr>
            </a:pPr>
          </a:p>
        </c:txPr>
        <c:crossAx val="-2113994440"/>
        <c:crosses val="autoZero"/>
        <c:auto val="1"/>
        <c:lblAlgn val="ctr"/>
        <c:lblOffset val="100"/>
        <c:noMultiLvlLbl val="0"/>
      </c:catAx>
      <c:valAx>
        <c:axId val="-2113994440"/>
        <c:scaling/>
        <c:delete/>
        <c:axPos val="l"/>
        <c:numFmt formatCode="0.0&quot;x&quot;" sourceLinked="0"/>
        <c:majorTickMark val="out"/>
        <c:minorTickMark val="none"/>
        <c:tickLblPos val="nextTo"/>
        <c:txPr>
          <a:bodyPr/>
          <a:lstStyle/>
          <a:p>
            <a:pPr>
              <a:defRPr sz="1400">
                <a:solidFill>
                  <a:srgbClr val="5C5750"/>
                </a:solidFill>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I am presenting Smoke Horizon, a predictive air quality system designed for the Delhi capital region during the annual autumn stubble burning season.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Conventional air quality applications operate as digital thermometers rather than weather radars. By the time an AQI monitor registers severe pollution, millions of residents have already inhaled hazardous PM2.5.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Agricultural fires in Punjab and Haryana contribute up to forty percent of Delhi's particulate load during peak harvest weeks. The smoke travels three hundred kilometers along prevailing northwest wind vectors directly into the urban basin.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consumer air apps only report current conditions. SAFAR publishes daily bulletins at ten kilometer resolution without a public API. Smoke Horizon provides forty-eight hours of lead time, source attribution, and sub-second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next section, we examine the physics and engineering pipeline that turns raw thermal satellite detections into ground-level particulate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decouples satellite ingestion, meteorology, physics simulation, and health exposure calculation into three deterministic stages. Each stage validates inputs with Pydantic before simulation.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Rather than running heavy computational fluid dynamics across a static grid, our Lagrangian puff model tracks individual parcels of smoke. Each parcel adjusts its mass based on diurnal burning rhythms and relative humidity.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Boundary layer height determines the vertical volume available for smoke dilution. When autumn night temperatures drop, the mixing height shrinks below three hundred meters, trapping smoke near ground level.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Air quality impacts individuals differently. Smoke Horizon computes exposure scores tailored to user vulnerability, alerting high-risk individuals hours before smoke plumes arrive.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three-dimensional chemical transport models like WRF-Chem take hours on compute clusters. A two-dimensional Lagrangian approximation runs in milliseconds on standard hardware, delivering usable advance warnings to residents.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the core transport calculation executes in under one second on a standard CPU, users can scrub through forty-eight hours of wind and fire permutations without server lag.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phase focuses on quantitative comparison against ground-truth monitors, moving from literature-based calibration to empirical verification across North India.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name="layout:cover">
    <p:bg>
      <p:bgPr>
        <a:solidFill>
          <a:srgbClr val="1F2523"/>
        </a:solidFill>
        <a:effectLst/>
      </p:bgPr>
    </p:bg>
    <p:spTree>
      <p:nvGrpSpPr>
        <p:cNvPr id="1" name=""/>
        <p:cNvGrpSpPr/>
        <p:nvPr/>
      </p:nvGrpSpPr>
      <p:grpSpPr/>
      <p:sp>
        <p:nvSpPr>
          <p:cNvPr id="2" name="Rectangle 1"/>
          <p:cNvSpPr/>
          <p:nvPr/>
        </p:nvSpPr>
        <p:spPr>
          <a:xfrm>
            <a:off x="685800" y="1920239"/>
            <a:ext cx="685800" cy="25400"/>
          </a:xfrm>
          <a:prstGeom prst="rect">
            <a:avLst/>
          </a:prstGeom>
          <a:solidFill>
            <a:srgbClr val="8FB8A6"/>
          </a:solidFill>
          <a:ln>
            <a:noFill/>
          </a:ln>
        </p:spPr>
        <p:txBody>
          <a:bodyPr rtlCol="0" anchor="ctr"/>
          <a:lstStyle/>
          <a:p>
            <a:pPr algn="ctr"/>
          </a:p>
        </p:txBody>
      </p:sp>
      <p:sp>
        <p:nvSpPr>
          <p:cNvPr id="3" name="kit:title"/>
          <p:cNvSpPr txBox="1"/>
          <p:nvPr/>
        </p:nvSpPr>
        <p:spPr>
          <a:xfrm>
            <a:off x="685800" y="2377439"/>
            <a:ext cx="8057921" cy="1828800"/>
          </a:xfrm>
          <a:prstGeom prst="rect">
            <a:avLst/>
          </a:prstGeom>
          <a:noFill/>
        </p:spPr>
        <p:txBody>
          <a:bodyPr wrap="square" lIns="0" rIns="0" tIns="0" bIns="0">
            <a:noAutofit/>
          </a:bodyPr>
          <a:lstStyle/>
          <a:p>
            <a:pPr algn="l">
              <a:lnSpc>
                <a:spcPct val="100000"/>
              </a:lnSpc>
            </a:pPr>
            <a:r>
              <a:rPr sz="6000" b="0" i="1">
                <a:solidFill>
                  <a:srgbClr val="F1EEE8"/>
                </a:solidFill>
                <a:latin typeface="Georgia"/>
              </a:rPr>
              <a:t>Downwind</a:t>
            </a:r>
            <a:r>
              <a:rPr sz="6000" b="0" i="0">
                <a:solidFill>
                  <a:srgbClr val="F1EEE8"/>
                </a:solidFill>
                <a:latin typeface="Georgia"/>
              </a:rPr>
              <a:t> smoke forecasting for Delhi</a:t>
            </a:r>
          </a:p>
        </p:txBody>
      </p:sp>
      <p:sp>
        <p:nvSpPr>
          <p:cNvPr id="4" name="TextBox 3"/>
          <p:cNvSpPr txBox="1"/>
          <p:nvPr/>
        </p:nvSpPr>
        <p:spPr>
          <a:xfrm>
            <a:off x="685800" y="4549140"/>
            <a:ext cx="8057921" cy="866140"/>
          </a:xfrm>
          <a:prstGeom prst="rect">
            <a:avLst/>
          </a:prstGeom>
          <a:noFill/>
        </p:spPr>
        <p:txBody>
          <a:bodyPr wrap="square" lIns="0" rIns="0" tIns="0" bIns="0">
            <a:noAutofit/>
          </a:bodyPr>
          <a:lstStyle/>
          <a:p>
            <a:pPr algn="l">
              <a:lnSpc>
                <a:spcPct val="125000"/>
              </a:lnSpc>
            </a:pPr>
            <a:r>
              <a:rPr sz="2200" b="0" i="0">
                <a:solidFill>
                  <a:srgbClr val="A9B0AA"/>
                </a:solidFill>
                <a:latin typeface="Calibri"/>
              </a:rPr>
              <a:t>Predicting agricultural fire transport across Delhi-NCR up to 48 hours in advance</a:t>
            </a:r>
          </a:p>
        </p:txBody>
      </p:sp>
      <p:sp>
        <p:nvSpPr>
          <p:cNvPr id="5" name="TextBox 4"/>
          <p:cNvSpPr txBox="1"/>
          <p:nvPr/>
        </p:nvSpPr>
        <p:spPr>
          <a:xfrm>
            <a:off x="685800" y="6035040"/>
            <a:ext cx="8057921" cy="238109"/>
          </a:xfrm>
          <a:prstGeom prst="rect">
            <a:avLst/>
          </a:prstGeom>
          <a:noFill/>
        </p:spPr>
        <p:txBody>
          <a:bodyPr wrap="square" lIns="0" rIns="0" tIns="0" bIns="0">
            <a:noAutofit/>
          </a:bodyPr>
          <a:lstStyle/>
          <a:p>
            <a:pPr algn="l">
              <a:lnSpc>
                <a:spcPct val="120000"/>
              </a:lnSpc>
            </a:pPr>
            <a:r>
              <a:rPr sz="1400" b="0" i="0">
                <a:solidFill>
                  <a:srgbClr val="A9B0AA"/>
                </a:solidFill>
                <a:latin typeface="Calibri"/>
              </a:rPr>
              <a:t>Smoke Horizon · Atmospheric Transport Architecture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layout:statement">
    <p:bg>
      <p:bgPr>
        <a:solidFill>
          <a:srgbClr val="1F2523"/>
        </a:solidFill>
        <a:effectLst/>
      </p:bgPr>
    </p:bg>
    <p:spTree>
      <p:nvGrpSpPr>
        <p:cNvPr id="1" name=""/>
        <p:cNvGrpSpPr/>
        <p:nvPr/>
      </p:nvGrpSpPr>
      <p:grpSpPr/>
      <p:sp>
        <p:nvSpPr>
          <p:cNvPr id="2" name="kit:eyebrow"/>
          <p:cNvSpPr txBox="1"/>
          <p:nvPr/>
        </p:nvSpPr>
        <p:spPr>
          <a:xfrm>
            <a:off x="685800" y="2033595"/>
            <a:ext cx="8978646" cy="152400"/>
          </a:xfrm>
          <a:prstGeom prst="rect">
            <a:avLst/>
          </a:prstGeom>
          <a:noFill/>
        </p:spPr>
        <p:txBody>
          <a:bodyPr wrap="square" lIns="0" rIns="0" tIns="0" bIns="0">
            <a:noAutofit/>
          </a:bodyPr>
          <a:lstStyle/>
          <a:p>
            <a:pPr algn="l">
              <a:lnSpc>
                <a:spcPct val="100000"/>
              </a:lnSpc>
            </a:pPr>
            <a:r>
              <a:rPr sz="1200" b="1" i="0" spc="150">
                <a:solidFill>
                  <a:srgbClr val="8FB8A6"/>
                </a:solidFill>
                <a:latin typeface="Calibri"/>
              </a:rPr>
              <a:t>THE CORE PROBLEM</a:t>
            </a:r>
          </a:p>
        </p:txBody>
      </p:sp>
      <p:sp>
        <p:nvSpPr>
          <p:cNvPr id="3" name="kit:title"/>
          <p:cNvSpPr txBox="1"/>
          <p:nvPr/>
        </p:nvSpPr>
        <p:spPr>
          <a:xfrm>
            <a:off x="685800" y="2414595"/>
            <a:ext cx="8978646" cy="1828800"/>
          </a:xfrm>
          <a:prstGeom prst="rect">
            <a:avLst/>
          </a:prstGeom>
          <a:noFill/>
        </p:spPr>
        <p:txBody>
          <a:bodyPr wrap="square" lIns="0" rIns="0" tIns="0" bIns="0">
            <a:noAutofit/>
          </a:bodyPr>
          <a:lstStyle/>
          <a:p>
            <a:pPr algn="l">
              <a:lnSpc>
                <a:spcPct val="100000"/>
              </a:lnSpc>
            </a:pPr>
            <a:r>
              <a:rPr sz="6000" b="0" i="0">
                <a:solidFill>
                  <a:srgbClr val="F1EEE8"/>
                </a:solidFill>
                <a:latin typeface="Georgia"/>
              </a:rPr>
              <a:t>Delhi inhales toxic smoke </a:t>
            </a:r>
            <a:r>
              <a:rPr sz="6000" b="0" i="1">
                <a:solidFill>
                  <a:srgbClr val="F1EEE8"/>
                </a:solidFill>
                <a:latin typeface="Georgia"/>
              </a:rPr>
              <a:t>before alarms</a:t>
            </a:r>
            <a:r>
              <a:rPr sz="6000" b="0" i="0">
                <a:solidFill>
                  <a:srgbClr val="F1EEE8"/>
                </a:solidFill>
                <a:latin typeface="Georgia"/>
              </a:rPr>
              <a:t> trigger</a:t>
            </a:r>
          </a:p>
        </p:txBody>
      </p:sp>
      <p:sp>
        <p:nvSpPr>
          <p:cNvPr id="4" name="TextBox 3"/>
          <p:cNvSpPr txBox="1"/>
          <p:nvPr/>
        </p:nvSpPr>
        <p:spPr>
          <a:xfrm>
            <a:off x="685800" y="4586295"/>
            <a:ext cx="8978646" cy="238109"/>
          </a:xfrm>
          <a:prstGeom prst="rect">
            <a:avLst/>
          </a:prstGeom>
          <a:noFill/>
        </p:spPr>
        <p:txBody>
          <a:bodyPr wrap="square" lIns="0" rIns="0" tIns="0" bIns="0">
            <a:noAutofit/>
          </a:bodyPr>
          <a:lstStyle/>
          <a:p>
            <a:pPr algn="l">
              <a:lnSpc>
                <a:spcPct val="120000"/>
              </a:lnSpc>
            </a:pPr>
            <a:r>
              <a:rPr sz="1400" b="0" i="0">
                <a:solidFill>
                  <a:srgbClr val="A9B0AA"/>
                </a:solidFill>
                <a:latin typeface="Calibri"/>
              </a:rPr>
              <a:t>Central Pollution Control Board station telemetry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layout:big_number">
    <p:bg>
      <p:bgPr>
        <a:solidFill>
          <a:srgbClr val="F1EEE8"/>
        </a:solidFill>
        <a:effectLst/>
      </p:bgPr>
    </p:bg>
    <p:spTree>
      <p:nvGrpSpPr>
        <p:cNvPr id="1" name=""/>
        <p:cNvGrpSpPr/>
        <p:nvPr/>
      </p:nvGrpSpPr>
      <p:grpSpPr/>
      <p:sp>
        <p:nvSpPr>
          <p:cNvPr id="2" name="kit:eyebrow"/>
          <p:cNvSpPr txBox="1"/>
          <p:nvPr/>
        </p:nvSpPr>
        <p:spPr>
          <a:xfrm>
            <a:off x="685800" y="548640"/>
            <a:ext cx="10820095" cy="152400"/>
          </a:xfrm>
          <a:prstGeom prst="rect">
            <a:avLst/>
          </a:prstGeom>
          <a:noFill/>
        </p:spPr>
        <p:txBody>
          <a:bodyPr wrap="square" lIns="0" rIns="0" tIns="0" bIns="0">
            <a:noAutofit/>
          </a:bodyPr>
          <a:lstStyle/>
          <a:p>
            <a:pPr algn="l">
              <a:lnSpc>
                <a:spcPct val="100000"/>
              </a:lnSpc>
            </a:pPr>
            <a:r>
              <a:rPr sz="1200" b="1" i="0" spc="150">
                <a:solidFill>
                  <a:srgbClr val="5C5750"/>
                </a:solidFill>
                <a:latin typeface="Calibri"/>
              </a:rPr>
              <a:t>SEASONAL SEVERITY</a:t>
            </a:r>
          </a:p>
        </p:txBody>
      </p:sp>
      <p:sp>
        <p:nvSpPr>
          <p:cNvPr id="3" name="kit:title"/>
          <p:cNvSpPr txBox="1"/>
          <p:nvPr/>
        </p:nvSpPr>
        <p:spPr>
          <a:xfrm>
            <a:off x="685800" y="822960"/>
            <a:ext cx="10820095" cy="497433"/>
          </a:xfrm>
          <a:prstGeom prst="rect">
            <a:avLst/>
          </a:prstGeom>
          <a:noFill/>
        </p:spPr>
        <p:txBody>
          <a:bodyPr wrap="square" lIns="0" rIns="0" tIns="0" bIns="0">
            <a:noAutofit/>
          </a:bodyPr>
          <a:lstStyle/>
          <a:p>
            <a:pPr algn="l">
              <a:lnSpc>
                <a:spcPct val="105000"/>
              </a:lnSpc>
            </a:pPr>
            <a:r>
              <a:rPr sz="3200" b="0" i="0">
                <a:solidFill>
                  <a:srgbClr val="1E1D1B"/>
                </a:solidFill>
                <a:latin typeface="Georgia"/>
              </a:rPr>
              <a:t>Stubble fires drive 40% of peak Delhi PM2.5</a:t>
            </a:r>
          </a:p>
        </p:txBody>
      </p:sp>
      <p:sp>
        <p:nvSpPr>
          <p:cNvPr id="4" name="kit:footer"/>
          <p:cNvSpPr txBox="1"/>
          <p:nvPr/>
        </p:nvSpPr>
        <p:spPr>
          <a:xfrm>
            <a:off x="685800" y="6355080"/>
            <a:ext cx="4572000" cy="157480"/>
          </a:xfrm>
          <a:prstGeom prst="rect">
            <a:avLst/>
          </a:prstGeom>
          <a:noFill/>
        </p:spPr>
        <p:txBody>
          <a:bodyPr wrap="square" lIns="0" rIns="0" tIns="0" bIns="0">
            <a:noAutofit/>
          </a:bodyPr>
          <a:lstStyle/>
          <a:p>
            <a:pPr algn="l">
              <a:lnSpc>
                <a:spcPct val="100000"/>
              </a:lnSpc>
            </a:pPr>
            <a:r>
              <a:rPr sz="1000" b="0" i="0">
                <a:solidFill>
                  <a:srgbClr val="5C5750"/>
                </a:solidFill>
                <a:latin typeface="Calibri"/>
              </a:rPr>
              <a:t>Smoke Horizon</a:t>
            </a:r>
          </a:p>
        </p:txBody>
      </p:sp>
      <p:sp>
        <p:nvSpPr>
          <p:cNvPr id="5" name="kit:footer:2"/>
          <p:cNvSpPr txBox="1"/>
          <p:nvPr/>
        </p:nvSpPr>
        <p:spPr>
          <a:xfrm>
            <a:off x="6210147" y="6355080"/>
            <a:ext cx="5295747" cy="157480"/>
          </a:xfrm>
          <a:prstGeom prst="rect">
            <a:avLst/>
          </a:prstGeom>
          <a:noFill/>
        </p:spPr>
        <p:txBody>
          <a:bodyPr wrap="square" lIns="0" rIns="0" tIns="0" bIns="0">
            <a:noAutofit/>
          </a:bodyPr>
          <a:lstStyle/>
          <a:p>
            <a:pPr algn="r">
              <a:lnSpc>
                <a:spcPct val="100000"/>
              </a:lnSpc>
            </a:pPr>
            <a:r>
              <a:rPr sz="1000" b="0" i="0">
                <a:solidFill>
                  <a:srgbClr val="5C5750"/>
                </a:solidFill>
                <a:latin typeface="Calibri"/>
              </a:rPr>
              <a:t>3</a:t>
            </a:r>
          </a:p>
        </p:txBody>
      </p:sp>
      <p:sp>
        <p:nvSpPr>
          <p:cNvPr id="6" name="TextBox 5"/>
          <p:cNvSpPr txBox="1"/>
          <p:nvPr/>
        </p:nvSpPr>
        <p:spPr>
          <a:xfrm>
            <a:off x="685800" y="2057400"/>
            <a:ext cx="4375023" cy="1404518"/>
          </a:xfrm>
          <a:prstGeom prst="rect">
            <a:avLst/>
          </a:prstGeom>
          <a:noFill/>
        </p:spPr>
        <p:txBody>
          <a:bodyPr wrap="square" lIns="0" rIns="0" tIns="0" bIns="0">
            <a:noAutofit/>
          </a:bodyPr>
          <a:lstStyle/>
          <a:p>
            <a:pPr algn="l">
              <a:lnSpc>
                <a:spcPct val="90000"/>
              </a:lnSpc>
            </a:pPr>
            <a:r>
              <a:rPr sz="9600" b="0" i="0">
                <a:solidFill>
                  <a:srgbClr val="2F5D50"/>
                </a:solidFill>
                <a:latin typeface="Georgia"/>
              </a:rPr>
              <a:t>40%</a:t>
            </a:r>
          </a:p>
        </p:txBody>
      </p:sp>
      <p:sp>
        <p:nvSpPr>
          <p:cNvPr id="7" name="TextBox 6"/>
          <p:cNvSpPr txBox="1"/>
          <p:nvPr/>
        </p:nvSpPr>
        <p:spPr>
          <a:xfrm>
            <a:off x="685800" y="3576218"/>
            <a:ext cx="4375023" cy="238109"/>
          </a:xfrm>
          <a:prstGeom prst="rect">
            <a:avLst/>
          </a:prstGeom>
          <a:noFill/>
        </p:spPr>
        <p:txBody>
          <a:bodyPr wrap="square" lIns="0" rIns="0" tIns="0" bIns="0">
            <a:noAutofit/>
          </a:bodyPr>
          <a:lstStyle/>
          <a:p>
            <a:pPr algn="l">
              <a:lnSpc>
                <a:spcPct val="120000"/>
              </a:lnSpc>
            </a:pPr>
            <a:r>
              <a:rPr sz="1400" b="0" i="0">
                <a:solidFill>
                  <a:srgbClr val="5C5750"/>
                </a:solidFill>
                <a:latin typeface="Calibri"/>
              </a:rPr>
              <a:t>Peak harvest fire contribution to capital region PM2.5</a:t>
            </a:r>
          </a:p>
        </p:txBody>
      </p:sp>
      <p:sp>
        <p:nvSpPr>
          <p:cNvPr id="8" name="TextBox 7"/>
          <p:cNvSpPr txBox="1"/>
          <p:nvPr/>
        </p:nvSpPr>
        <p:spPr>
          <a:xfrm>
            <a:off x="6210147" y="2057400"/>
            <a:ext cx="5295747" cy="360314"/>
          </a:xfrm>
          <a:prstGeom prst="rect">
            <a:avLst/>
          </a:prstGeom>
          <a:noFill/>
        </p:spPr>
        <p:txBody>
          <a:bodyPr wrap="square" lIns="0" rIns="0" tIns="0" bIns="0">
            <a:noAutofit/>
          </a:bodyPr>
          <a:lstStyle/>
          <a:p>
            <a:pPr algn="l">
              <a:lnSpc>
                <a:spcPct val="110000"/>
              </a:lnSpc>
            </a:pPr>
            <a:r>
              <a:rPr sz="2200" b="1" i="0">
                <a:solidFill>
                  <a:srgbClr val="1E1D1B"/>
                </a:solidFill>
                <a:latin typeface="Calibri"/>
              </a:rPr>
              <a:t>20M residents</a:t>
            </a:r>
          </a:p>
        </p:txBody>
      </p:sp>
      <p:sp>
        <p:nvSpPr>
          <p:cNvPr id="9" name="TextBox 8"/>
          <p:cNvSpPr txBox="1"/>
          <p:nvPr/>
        </p:nvSpPr>
        <p:spPr>
          <a:xfrm>
            <a:off x="6210147" y="2532014"/>
            <a:ext cx="5295747" cy="311810"/>
          </a:xfrm>
          <a:prstGeom prst="rect">
            <a:avLst/>
          </a:prstGeom>
          <a:noFill/>
        </p:spPr>
        <p:txBody>
          <a:bodyPr wrap="square" lIns="0" rIns="0" tIns="0" bIns="0">
            <a:noAutofit/>
          </a:bodyPr>
          <a:lstStyle/>
          <a:p>
            <a:pPr algn="l">
              <a:lnSpc>
                <a:spcPct val="125000"/>
              </a:lnSpc>
            </a:pPr>
            <a:r>
              <a:rPr sz="1800" b="0" i="0">
                <a:solidFill>
                  <a:srgbClr val="1E1D1B"/>
                </a:solidFill>
                <a:latin typeface="Calibri"/>
              </a:rPr>
              <a:t>Breathe hazardous air during autumn harvest weeks.</a:t>
            </a:r>
          </a:p>
        </p:txBody>
      </p:sp>
      <p:cxnSp>
        <p:nvCxnSpPr>
          <p:cNvPr id="10" name="kit:hairline"/>
          <p:cNvCxnSpPr/>
          <p:nvPr/>
        </p:nvCxnSpPr>
        <p:spPr>
          <a:xfrm>
            <a:off x="6210147" y="3015274"/>
            <a:ext cx="5295748" cy="0"/>
          </a:xfrm>
          <a:prstGeom prst="line">
            <a:avLst/>
          </a:prstGeom>
          <a:ln w="9525">
            <a:solidFill>
              <a:srgbClr val="CBC5BA"/>
            </a:solidFill>
          </a:ln>
        </p:spPr>
      </p:cxnSp>
      <p:sp>
        <p:nvSpPr>
          <p:cNvPr id="11" name="TextBox 10"/>
          <p:cNvSpPr txBox="1"/>
          <p:nvPr/>
        </p:nvSpPr>
        <p:spPr>
          <a:xfrm>
            <a:off x="6210147" y="3186724"/>
            <a:ext cx="5295747" cy="360314"/>
          </a:xfrm>
          <a:prstGeom prst="rect">
            <a:avLst/>
          </a:prstGeom>
          <a:noFill/>
        </p:spPr>
        <p:txBody>
          <a:bodyPr wrap="square" lIns="0" rIns="0" tIns="0" bIns="0">
            <a:noAutofit/>
          </a:bodyPr>
          <a:lstStyle/>
          <a:p>
            <a:pPr algn="l">
              <a:lnSpc>
                <a:spcPct val="110000"/>
              </a:lnSpc>
            </a:pPr>
            <a:r>
              <a:rPr sz="2200" b="1" i="0">
                <a:solidFill>
                  <a:srgbClr val="1E1D1B"/>
                </a:solidFill>
                <a:latin typeface="Calibri"/>
              </a:rPr>
              <a:t>300 km transit</a:t>
            </a:r>
          </a:p>
        </p:txBody>
      </p:sp>
      <p:sp>
        <p:nvSpPr>
          <p:cNvPr id="12" name="TextBox 11"/>
          <p:cNvSpPr txBox="1"/>
          <p:nvPr/>
        </p:nvSpPr>
        <p:spPr>
          <a:xfrm>
            <a:off x="6210147" y="3661338"/>
            <a:ext cx="5295747" cy="311810"/>
          </a:xfrm>
          <a:prstGeom prst="rect">
            <a:avLst/>
          </a:prstGeom>
          <a:noFill/>
        </p:spPr>
        <p:txBody>
          <a:bodyPr wrap="square" lIns="0" rIns="0" tIns="0" bIns="0">
            <a:noAutofit/>
          </a:bodyPr>
          <a:lstStyle/>
          <a:p>
            <a:pPr algn="l">
              <a:lnSpc>
                <a:spcPct val="125000"/>
              </a:lnSpc>
            </a:pPr>
            <a:r>
              <a:rPr sz="1800" b="0" i="0">
                <a:solidFill>
                  <a:srgbClr val="1E1D1B"/>
                </a:solidFill>
                <a:latin typeface="Calibri"/>
              </a:rPr>
              <a:t>Plumes reach Delhi from Punjab within 18 hours.</a:t>
            </a:r>
          </a:p>
        </p:txBody>
      </p:sp>
      <p:cxnSp>
        <p:nvCxnSpPr>
          <p:cNvPr id="13" name="kit:hairline:2"/>
          <p:cNvCxnSpPr/>
          <p:nvPr/>
        </p:nvCxnSpPr>
        <p:spPr>
          <a:xfrm>
            <a:off x="6210147" y="4144599"/>
            <a:ext cx="5295748" cy="0"/>
          </a:xfrm>
          <a:prstGeom prst="line">
            <a:avLst/>
          </a:prstGeom>
          <a:ln w="9525">
            <a:solidFill>
              <a:srgbClr val="CBC5BA"/>
            </a:solidFill>
          </a:ln>
        </p:spPr>
      </p:cxnSp>
      <p:sp>
        <p:nvSpPr>
          <p:cNvPr id="14" name="TextBox 13"/>
          <p:cNvSpPr txBox="1"/>
          <p:nvPr/>
        </p:nvSpPr>
        <p:spPr>
          <a:xfrm>
            <a:off x="6210147" y="4316049"/>
            <a:ext cx="5295747" cy="360314"/>
          </a:xfrm>
          <a:prstGeom prst="rect">
            <a:avLst/>
          </a:prstGeom>
          <a:noFill/>
        </p:spPr>
        <p:txBody>
          <a:bodyPr wrap="square" lIns="0" rIns="0" tIns="0" bIns="0">
            <a:noAutofit/>
          </a:bodyPr>
          <a:lstStyle/>
          <a:p>
            <a:pPr algn="l">
              <a:lnSpc>
                <a:spcPct val="110000"/>
              </a:lnSpc>
            </a:pPr>
            <a:r>
              <a:rPr sz="2200" b="1" i="0">
                <a:solidFill>
                  <a:srgbClr val="1E1D1B"/>
                </a:solidFill>
                <a:latin typeface="Calibri"/>
              </a:rPr>
              <a:t>400+ peak AQI</a:t>
            </a:r>
          </a:p>
        </p:txBody>
      </p:sp>
      <p:sp>
        <p:nvSpPr>
          <p:cNvPr id="15" name="TextBox 14"/>
          <p:cNvSpPr txBox="1"/>
          <p:nvPr/>
        </p:nvSpPr>
        <p:spPr>
          <a:xfrm>
            <a:off x="6210147" y="4790663"/>
            <a:ext cx="5295747" cy="311810"/>
          </a:xfrm>
          <a:prstGeom prst="rect">
            <a:avLst/>
          </a:prstGeom>
          <a:noFill/>
        </p:spPr>
        <p:txBody>
          <a:bodyPr wrap="square" lIns="0" rIns="0" tIns="0" bIns="0">
            <a:noAutofit/>
          </a:bodyPr>
          <a:lstStyle/>
          <a:p>
            <a:pPr algn="l">
              <a:lnSpc>
                <a:spcPct val="125000"/>
              </a:lnSpc>
            </a:pPr>
            <a:r>
              <a:rPr sz="1800" b="0" i="0">
                <a:solidFill>
                  <a:srgbClr val="1E1D1B"/>
                </a:solidFill>
                <a:latin typeface="Calibri"/>
              </a:rPr>
              <a:t>Emergency spikes trigger school closures and alerts.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layout:table">
    <p:bg>
      <p:bgPr>
        <a:solidFill>
          <a:srgbClr val="F1EEE8"/>
        </a:solidFill>
        <a:effectLst/>
      </p:bgPr>
    </p:bg>
    <p:spTree>
      <p:nvGrpSpPr>
        <p:cNvPr id="1" name=""/>
        <p:cNvGrpSpPr/>
        <p:nvPr/>
      </p:nvGrpSpPr>
      <p:grpSpPr/>
      <p:sp>
        <p:nvSpPr>
          <p:cNvPr id="2" name="kit:eyebrow"/>
          <p:cNvSpPr txBox="1"/>
          <p:nvPr/>
        </p:nvSpPr>
        <p:spPr>
          <a:xfrm>
            <a:off x="685800" y="548640"/>
            <a:ext cx="10820095" cy="152400"/>
          </a:xfrm>
          <a:prstGeom prst="rect">
            <a:avLst/>
          </a:prstGeom>
          <a:noFill/>
        </p:spPr>
        <p:txBody>
          <a:bodyPr wrap="square" lIns="0" rIns="0" tIns="0" bIns="0">
            <a:noAutofit/>
          </a:bodyPr>
          <a:lstStyle/>
          <a:p>
            <a:pPr algn="l">
              <a:lnSpc>
                <a:spcPct val="100000"/>
              </a:lnSpc>
            </a:pPr>
            <a:r>
              <a:rPr sz="1200" b="1" i="0" spc="150">
                <a:solidFill>
                  <a:srgbClr val="5C5750"/>
                </a:solidFill>
                <a:latin typeface="Calibri"/>
              </a:rPr>
              <a:t>SYSTEM COMPARISON</a:t>
            </a:r>
          </a:p>
        </p:txBody>
      </p:sp>
      <p:sp>
        <p:nvSpPr>
          <p:cNvPr id="3" name="kit:title"/>
          <p:cNvSpPr txBox="1"/>
          <p:nvPr/>
        </p:nvSpPr>
        <p:spPr>
          <a:xfrm>
            <a:off x="685800" y="822960"/>
            <a:ext cx="10820095" cy="497433"/>
          </a:xfrm>
          <a:prstGeom prst="rect">
            <a:avLst/>
          </a:prstGeom>
          <a:noFill/>
        </p:spPr>
        <p:txBody>
          <a:bodyPr wrap="square" lIns="0" rIns="0" tIns="0" bIns="0">
            <a:noAutofit/>
          </a:bodyPr>
          <a:lstStyle/>
          <a:p>
            <a:pPr algn="l">
              <a:lnSpc>
                <a:spcPct val="105000"/>
              </a:lnSpc>
            </a:pPr>
            <a:r>
              <a:rPr sz="3200" b="0" i="0">
                <a:solidFill>
                  <a:srgbClr val="1E1D1B"/>
                </a:solidFill>
                <a:latin typeface="Georgia"/>
              </a:rPr>
              <a:t>Standard monitors report pollution after exposure</a:t>
            </a:r>
          </a:p>
        </p:txBody>
      </p:sp>
      <p:sp>
        <p:nvSpPr>
          <p:cNvPr id="4" name="kit:footer"/>
          <p:cNvSpPr txBox="1"/>
          <p:nvPr/>
        </p:nvSpPr>
        <p:spPr>
          <a:xfrm>
            <a:off x="685800" y="6355080"/>
            <a:ext cx="4572000" cy="157480"/>
          </a:xfrm>
          <a:prstGeom prst="rect">
            <a:avLst/>
          </a:prstGeom>
          <a:noFill/>
        </p:spPr>
        <p:txBody>
          <a:bodyPr wrap="square" lIns="0" rIns="0" tIns="0" bIns="0">
            <a:noAutofit/>
          </a:bodyPr>
          <a:lstStyle/>
          <a:p>
            <a:pPr algn="l">
              <a:lnSpc>
                <a:spcPct val="100000"/>
              </a:lnSpc>
            </a:pPr>
            <a:r>
              <a:rPr sz="1000" b="0" i="0">
                <a:solidFill>
                  <a:srgbClr val="5C5750"/>
                </a:solidFill>
                <a:latin typeface="Calibri"/>
              </a:rPr>
              <a:t>Smoke Horizon</a:t>
            </a:r>
          </a:p>
        </p:txBody>
      </p:sp>
      <p:sp>
        <p:nvSpPr>
          <p:cNvPr id="5" name="kit:footer:2"/>
          <p:cNvSpPr txBox="1"/>
          <p:nvPr/>
        </p:nvSpPr>
        <p:spPr>
          <a:xfrm>
            <a:off x="6210147" y="6355080"/>
            <a:ext cx="5295747" cy="157480"/>
          </a:xfrm>
          <a:prstGeom prst="rect">
            <a:avLst/>
          </a:prstGeom>
          <a:noFill/>
        </p:spPr>
        <p:txBody>
          <a:bodyPr wrap="square" lIns="0" rIns="0" tIns="0" bIns="0">
            <a:noAutofit/>
          </a:bodyPr>
          <a:lstStyle/>
          <a:p>
            <a:pPr algn="r">
              <a:lnSpc>
                <a:spcPct val="100000"/>
              </a:lnSpc>
            </a:pPr>
            <a:r>
              <a:rPr sz="1000" b="0" i="0">
                <a:solidFill>
                  <a:srgbClr val="5C5750"/>
                </a:solidFill>
                <a:latin typeface="Calibri"/>
              </a:rPr>
              <a:t>4</a:t>
            </a:r>
          </a:p>
        </p:txBody>
      </p:sp>
      <p:graphicFrame>
        <p:nvGraphicFramePr>
          <p:cNvPr id="6" name="Table 5"/>
          <p:cNvGraphicFramePr>
            <a:graphicFrameLocks noGrp="1"/>
          </p:cNvGraphicFramePr>
          <p:nvPr/>
        </p:nvGraphicFramePr>
        <p:xfrm>
          <a:off x="685800" y="2490435"/>
          <a:ext cx="10820094" cy="2542639"/>
        </p:xfrm>
        <a:graphic>
          <a:graphicData uri="http://schemas.openxmlformats.org/drawingml/2006/table">
            <a:tbl>
              <a:tblPr firstRow="1" bandRow="1">
                <a:tableStyleId>{5C22544A-7EE6-4342-B048-85BDC9FD1C3A}</a:tableStyleId>
              </a:tblPr>
              <a:tblGrid>
                <a:gridCol w="2551909"/>
                <a:gridCol w="2841125"/>
                <a:gridCol w="2688011"/>
                <a:gridCol w="2739049"/>
              </a:tblGrid>
              <a:tr h="380999">
                <a:tc>
                  <a:txBody>
                    <a:bodyPr lIns="0" rIns="0"/>
                    <a:lstStyle/>
                    <a:p>
                      <a:pPr algn="l">
                        <a:defRPr sz="1200" b="1">
                          <a:solidFill>
                            <a:srgbClr val="5C5750"/>
                          </a:solidFill>
                          <a:latin typeface="Calibri"/>
                        </a:defRPr>
                      </a:pPr>
                      <a:r>
                        <a:t>CAPABILITY</a:t>
                      </a:r>
                    </a:p>
                  </a:txBody>
                  <a:tcPr anchor="ctr">
                    <a:lnL>
                      <a:noFill/>
                    </a:lnL>
                    <a:lnR>
                      <a:noFill/>
                    </a:lnR>
                    <a:lnT>
                      <a:noFill/>
                    </a:lnT>
                    <a:lnB w="9525">
                      <a:solidFill>
                        <a:srgbClr val="1E1D1B"/>
                      </a:solidFill>
                    </a:lnB>
                    <a:noFill/>
                  </a:tcPr>
                </a:tc>
                <a:tc>
                  <a:txBody>
                    <a:bodyPr lIns="0" rIns="0"/>
                    <a:lstStyle/>
                    <a:p>
                      <a:pPr algn="l">
                        <a:defRPr sz="1200" b="1">
                          <a:solidFill>
                            <a:srgbClr val="5C5750"/>
                          </a:solidFill>
                          <a:latin typeface="Calibri"/>
                        </a:defRPr>
                      </a:pPr>
                      <a:r>
                        <a:t>STANDARD AQI APPS</a:t>
                      </a:r>
                    </a:p>
                  </a:txBody>
                  <a:tcPr anchor="ctr">
                    <a:lnL>
                      <a:noFill/>
                    </a:lnL>
                    <a:lnR>
                      <a:noFill/>
                    </a:lnR>
                    <a:lnT>
                      <a:noFill/>
                    </a:lnT>
                    <a:lnB w="9525">
                      <a:solidFill>
                        <a:srgbClr val="1E1D1B"/>
                      </a:solidFill>
                    </a:lnB>
                    <a:noFill/>
                  </a:tcPr>
                </a:tc>
                <a:tc>
                  <a:txBody>
                    <a:bodyPr lIns="0" rIns="0"/>
                    <a:lstStyle/>
                    <a:p>
                      <a:pPr algn="l">
                        <a:defRPr sz="1200" b="1">
                          <a:solidFill>
                            <a:srgbClr val="5C5750"/>
                          </a:solidFill>
                          <a:latin typeface="Calibri"/>
                        </a:defRPr>
                      </a:pPr>
                      <a:r>
                        <a:t>SAFAR BULLETINS</a:t>
                      </a:r>
                    </a:p>
                  </a:txBody>
                  <a:tcPr anchor="ctr">
                    <a:lnL>
                      <a:noFill/>
                    </a:lnL>
                    <a:lnR>
                      <a:noFill/>
                    </a:lnR>
                    <a:lnT>
                      <a:noFill/>
                    </a:lnT>
                    <a:lnB w="9525">
                      <a:solidFill>
                        <a:srgbClr val="1E1D1B"/>
                      </a:solidFill>
                    </a:lnB>
                    <a:noFill/>
                  </a:tcPr>
                </a:tc>
                <a:tc>
                  <a:txBody>
                    <a:bodyPr lIns="0" rIns="0"/>
                    <a:lstStyle/>
                    <a:p>
                      <a:pPr algn="l">
                        <a:defRPr sz="1200" b="1">
                          <a:solidFill>
                            <a:srgbClr val="5C5750"/>
                          </a:solidFill>
                          <a:latin typeface="Calibri"/>
                        </a:defRPr>
                      </a:pPr>
                      <a:r>
                        <a:t>SMOKE HORIZON</a:t>
                      </a:r>
                    </a:p>
                  </a:txBody>
                  <a:tcPr anchor="ctr">
                    <a:lnL>
                      <a:noFill/>
                    </a:lnL>
                    <a:lnR>
                      <a:noFill/>
                    </a:lnR>
                    <a:lnT>
                      <a:noFill/>
                    </a:lnT>
                    <a:lnB w="9525">
                      <a:solidFill>
                        <a:srgbClr val="1E1D1B"/>
                      </a:solidFill>
                    </a:lnB>
                    <a:solidFill>
                      <a:srgbClr val="DCE5DF"/>
                    </a:solidFill>
                  </a:tcPr>
                </a:tc>
              </a:tr>
              <a:tr h="540410">
                <a:tc>
                  <a:txBody>
                    <a:bodyPr lIns="0" rIns="0"/>
                    <a:lstStyle/>
                    <a:p>
                      <a:pPr algn="l">
                        <a:defRPr sz="1800" b="1">
                          <a:solidFill>
                            <a:srgbClr val="1E1D1B"/>
                          </a:solidFill>
                          <a:latin typeface="Calibri"/>
                        </a:defRPr>
                      </a:pPr>
                      <a:r>
                        <a:t>Lead time</a:t>
                      </a:r>
                    </a:p>
                  </a:txBody>
                  <a:tcPr anchor="ctr">
                    <a:lnL>
                      <a:noFill/>
                    </a:lnL>
                    <a:lnR>
                      <a:noFill/>
                    </a:lnR>
                    <a:lnT>
                      <a:noFill/>
                    </a:lnT>
                    <a:lnB w="9525">
                      <a:solidFill>
                        <a:srgbClr val="CBC5BA"/>
                      </a:solidFill>
                    </a:lnB>
                    <a:noFill/>
                  </a:tcPr>
                </a:tc>
                <a:tc>
                  <a:txBody>
                    <a:bodyPr lIns="0" rIns="0"/>
                    <a:lstStyle/>
                    <a:p>
                      <a:pPr algn="l">
                        <a:defRPr sz="1800" b="0">
                          <a:solidFill>
                            <a:srgbClr val="1E1D1B"/>
                          </a:solidFill>
                          <a:latin typeface="Calibri"/>
                        </a:defRPr>
                      </a:pPr>
                      <a:r>
                        <a:t>0 hours (current)</a:t>
                      </a:r>
                    </a:p>
                  </a:txBody>
                  <a:tcPr anchor="ctr">
                    <a:lnL>
                      <a:noFill/>
                    </a:lnL>
                    <a:lnR>
                      <a:noFill/>
                    </a:lnR>
                    <a:lnT>
                      <a:noFill/>
                    </a:lnT>
                    <a:lnB w="9525">
                      <a:solidFill>
                        <a:srgbClr val="CBC5BA"/>
                      </a:solidFill>
                    </a:lnB>
                    <a:noFill/>
                  </a:tcPr>
                </a:tc>
                <a:tc>
                  <a:txBody>
                    <a:bodyPr lIns="0" rIns="0"/>
                    <a:lstStyle/>
                    <a:p>
                      <a:pPr algn="l">
                        <a:defRPr sz="1800" b="0">
                          <a:solidFill>
                            <a:srgbClr val="1E1D1B"/>
                          </a:solidFill>
                          <a:latin typeface="Calibri"/>
                        </a:defRPr>
                      </a:pPr>
                      <a:r>
                        <a:t>24 hours</a:t>
                      </a:r>
                    </a:p>
                  </a:txBody>
                  <a:tcPr anchor="ctr">
                    <a:lnL>
                      <a:noFill/>
                    </a:lnL>
                    <a:lnR>
                      <a:noFill/>
                    </a:lnR>
                    <a:lnT>
                      <a:noFill/>
                    </a:lnT>
                    <a:lnB w="9525">
                      <a:solidFill>
                        <a:srgbClr val="CBC5BA"/>
                      </a:solidFill>
                    </a:lnB>
                    <a:noFill/>
                  </a:tcPr>
                </a:tc>
                <a:tc>
                  <a:txBody>
                    <a:bodyPr lIns="0" rIns="0"/>
                    <a:lstStyle/>
                    <a:p>
                      <a:pPr algn="l">
                        <a:defRPr sz="1800" b="1">
                          <a:solidFill>
                            <a:srgbClr val="1E1D1B"/>
                          </a:solidFill>
                          <a:latin typeface="Calibri"/>
                        </a:defRPr>
                      </a:pPr>
                      <a:r>
                        <a:t>48 hours</a:t>
                      </a:r>
                    </a:p>
                  </a:txBody>
                  <a:tcPr anchor="ctr">
                    <a:lnL>
                      <a:noFill/>
                    </a:lnL>
                    <a:lnR>
                      <a:noFill/>
                    </a:lnR>
                    <a:lnT>
                      <a:noFill/>
                    </a:lnT>
                    <a:lnB w="9525">
                      <a:solidFill>
                        <a:srgbClr val="CBC5BA"/>
                      </a:solidFill>
                    </a:lnB>
                    <a:solidFill>
                      <a:srgbClr val="DCE5DF"/>
                    </a:solidFill>
                  </a:tcPr>
                </a:tc>
              </a:tr>
              <a:tr h="540410">
                <a:tc>
                  <a:txBody>
                    <a:bodyPr lIns="0" rIns="0"/>
                    <a:lstStyle/>
                    <a:p>
                      <a:pPr algn="l">
                        <a:defRPr sz="1800" b="1">
                          <a:solidFill>
                            <a:srgbClr val="1E1D1B"/>
                          </a:solidFill>
                          <a:latin typeface="Calibri"/>
                        </a:defRPr>
                      </a:pPr>
                      <a:r>
                        <a:t>Origin tracking</a:t>
                      </a:r>
                    </a:p>
                  </a:txBody>
                  <a:tcPr anchor="ctr">
                    <a:lnL>
                      <a:noFill/>
                    </a:lnL>
                    <a:lnR>
                      <a:noFill/>
                    </a:lnR>
                    <a:lnT>
                      <a:noFill/>
                    </a:lnT>
                    <a:lnB w="9525">
                      <a:solidFill>
                        <a:srgbClr val="CBC5BA"/>
                      </a:solidFill>
                    </a:lnB>
                    <a:noFill/>
                  </a:tcPr>
                </a:tc>
                <a:tc>
                  <a:txBody>
                    <a:bodyPr lIns="0" rIns="0"/>
                    <a:lstStyle/>
                    <a:p>
                      <a:pPr algn="l">
                        <a:defRPr sz="1800" b="0">
                          <a:solidFill>
                            <a:srgbClr val="1E1D1B"/>
                          </a:solidFill>
                          <a:latin typeface="Calibri"/>
                        </a:defRPr>
                      </a:pPr>
                      <a:r>
                        <a:t>None</a:t>
                      </a:r>
                    </a:p>
                  </a:txBody>
                  <a:tcPr anchor="ctr">
                    <a:lnL>
                      <a:noFill/>
                    </a:lnL>
                    <a:lnR>
                      <a:noFill/>
                    </a:lnR>
                    <a:lnT>
                      <a:noFill/>
                    </a:lnT>
                    <a:lnB w="9525">
                      <a:solidFill>
                        <a:srgbClr val="CBC5BA"/>
                      </a:solidFill>
                    </a:lnB>
                    <a:noFill/>
                  </a:tcPr>
                </a:tc>
                <a:tc>
                  <a:txBody>
                    <a:bodyPr lIns="0" rIns="0"/>
                    <a:lstStyle/>
                    <a:p>
                      <a:pPr algn="l">
                        <a:defRPr sz="1800" b="0">
                          <a:solidFill>
                            <a:srgbClr val="1E1D1B"/>
                          </a:solidFill>
                          <a:latin typeface="Calibri"/>
                        </a:defRPr>
                      </a:pPr>
                      <a:r>
                        <a:t>Regional estimate</a:t>
                      </a:r>
                    </a:p>
                  </a:txBody>
                  <a:tcPr anchor="ctr">
                    <a:lnL>
                      <a:noFill/>
                    </a:lnL>
                    <a:lnR>
                      <a:noFill/>
                    </a:lnR>
                    <a:lnT>
                      <a:noFill/>
                    </a:lnT>
                    <a:lnB w="9525">
                      <a:solidFill>
                        <a:srgbClr val="CBC5BA"/>
                      </a:solidFill>
                    </a:lnB>
                    <a:noFill/>
                  </a:tcPr>
                </a:tc>
                <a:tc>
                  <a:txBody>
                    <a:bodyPr lIns="0" rIns="0"/>
                    <a:lstStyle/>
                    <a:p>
                      <a:pPr algn="l">
                        <a:defRPr sz="1800" b="1">
                          <a:solidFill>
                            <a:srgbClr val="1E1D1B"/>
                          </a:solidFill>
                          <a:latin typeface="Calibri"/>
                        </a:defRPr>
                      </a:pPr>
                      <a:r>
                        <a:t>Per-fire tracking</a:t>
                      </a:r>
                    </a:p>
                  </a:txBody>
                  <a:tcPr anchor="ctr">
                    <a:lnL>
                      <a:noFill/>
                    </a:lnL>
                    <a:lnR>
                      <a:noFill/>
                    </a:lnR>
                    <a:lnT>
                      <a:noFill/>
                    </a:lnT>
                    <a:lnB w="9525">
                      <a:solidFill>
                        <a:srgbClr val="CBC5BA"/>
                      </a:solidFill>
                    </a:lnB>
                    <a:solidFill>
                      <a:srgbClr val="DCE5DF"/>
                    </a:solidFill>
                  </a:tcPr>
                </a:tc>
              </a:tr>
              <a:tr h="540410">
                <a:tc>
                  <a:txBody>
                    <a:bodyPr lIns="0" rIns="0"/>
                    <a:lstStyle/>
                    <a:p>
                      <a:pPr algn="l">
                        <a:defRPr sz="1800" b="1">
                          <a:solidFill>
                            <a:srgbClr val="1E1D1B"/>
                          </a:solidFill>
                          <a:latin typeface="Calibri"/>
                        </a:defRPr>
                      </a:pPr>
                      <a:r>
                        <a:t>Personalization</a:t>
                      </a:r>
                    </a:p>
                  </a:txBody>
                  <a:tcPr anchor="ctr">
                    <a:lnL>
                      <a:noFill/>
                    </a:lnL>
                    <a:lnR>
                      <a:noFill/>
                    </a:lnR>
                    <a:lnT>
                      <a:noFill/>
                    </a:lnT>
                    <a:lnB w="9525">
                      <a:solidFill>
                        <a:srgbClr val="CBC5BA"/>
                      </a:solidFill>
                    </a:lnB>
                    <a:noFill/>
                  </a:tcPr>
                </a:tc>
                <a:tc>
                  <a:txBody>
                    <a:bodyPr lIns="0" rIns="0"/>
                    <a:lstStyle/>
                    <a:p>
                      <a:pPr algn="l">
                        <a:defRPr sz="1800" b="0">
                          <a:solidFill>
                            <a:srgbClr val="1E1D1B"/>
                          </a:solidFill>
                          <a:latin typeface="Calibri"/>
                        </a:defRPr>
                      </a:pPr>
                      <a:r>
                        <a:t>City-wide average</a:t>
                      </a:r>
                    </a:p>
                  </a:txBody>
                  <a:tcPr anchor="ctr">
                    <a:lnL>
                      <a:noFill/>
                    </a:lnL>
                    <a:lnR>
                      <a:noFill/>
                    </a:lnR>
                    <a:lnT>
                      <a:noFill/>
                    </a:lnT>
                    <a:lnB w="9525">
                      <a:solidFill>
                        <a:srgbClr val="CBC5BA"/>
                      </a:solidFill>
                    </a:lnB>
                    <a:noFill/>
                  </a:tcPr>
                </a:tc>
                <a:tc>
                  <a:txBody>
                    <a:bodyPr lIns="0" rIns="0"/>
                    <a:lstStyle/>
                    <a:p>
                      <a:pPr algn="l">
                        <a:defRPr sz="1800" b="0">
                          <a:solidFill>
                            <a:srgbClr val="1E1D1B"/>
                          </a:solidFill>
                          <a:latin typeface="Calibri"/>
                        </a:defRPr>
                      </a:pPr>
                      <a:r>
                        <a:t>10 km grid</a:t>
                      </a:r>
                    </a:p>
                  </a:txBody>
                  <a:tcPr anchor="ctr">
                    <a:lnL>
                      <a:noFill/>
                    </a:lnL>
                    <a:lnR>
                      <a:noFill/>
                    </a:lnR>
                    <a:lnT>
                      <a:noFill/>
                    </a:lnT>
                    <a:lnB w="9525">
                      <a:solidFill>
                        <a:srgbClr val="CBC5BA"/>
                      </a:solidFill>
                    </a:lnB>
                    <a:noFill/>
                  </a:tcPr>
                </a:tc>
                <a:tc>
                  <a:txBody>
                    <a:bodyPr lIns="0" rIns="0"/>
                    <a:lstStyle/>
                    <a:p>
                      <a:pPr algn="l">
                        <a:defRPr sz="1800" b="1">
                          <a:solidFill>
                            <a:srgbClr val="1E1D1B"/>
                          </a:solidFill>
                          <a:latin typeface="Calibri"/>
                        </a:defRPr>
                      </a:pPr>
                      <a:r>
                        <a:t>User coordinate</a:t>
                      </a:r>
                    </a:p>
                  </a:txBody>
                  <a:tcPr anchor="ctr">
                    <a:lnL>
                      <a:noFill/>
                    </a:lnL>
                    <a:lnR>
                      <a:noFill/>
                    </a:lnR>
                    <a:lnT>
                      <a:noFill/>
                    </a:lnT>
                    <a:lnB w="9525">
                      <a:solidFill>
                        <a:srgbClr val="CBC5BA"/>
                      </a:solidFill>
                    </a:lnB>
                    <a:solidFill>
                      <a:srgbClr val="DCE5DF"/>
                    </a:solidFill>
                  </a:tcPr>
                </a:tc>
              </a:tr>
              <a:tr h="540410">
                <a:tc>
                  <a:txBody>
                    <a:bodyPr lIns="0" rIns="0"/>
                    <a:lstStyle/>
                    <a:p>
                      <a:pPr algn="l">
                        <a:defRPr sz="1800" b="1">
                          <a:solidFill>
                            <a:srgbClr val="1E1D1B"/>
                          </a:solidFill>
                          <a:latin typeface="Calibri"/>
                        </a:defRPr>
                      </a:pPr>
                      <a:r>
                        <a:t>Update cadence</a:t>
                      </a:r>
                    </a:p>
                  </a:txBody>
                  <a:tcPr anchor="ctr">
                    <a:lnL>
                      <a:noFill/>
                    </a:lnL>
                    <a:lnR>
                      <a:noFill/>
                    </a:lnR>
                    <a:lnT>
                      <a:noFill/>
                    </a:lnT>
                    <a:lnB w="9525">
                      <a:solidFill>
                        <a:srgbClr val="CBC5BA"/>
                      </a:solidFill>
                    </a:lnB>
                    <a:noFill/>
                  </a:tcPr>
                </a:tc>
                <a:tc>
                  <a:txBody>
                    <a:bodyPr lIns="0" rIns="0"/>
                    <a:lstStyle/>
                    <a:p>
                      <a:pPr algn="l">
                        <a:defRPr sz="1800" b="0">
                          <a:solidFill>
                            <a:srgbClr val="1E1D1B"/>
                          </a:solidFill>
                          <a:latin typeface="Calibri"/>
                        </a:defRPr>
                      </a:pPr>
                      <a:r>
                        <a:t>Hourly station feed</a:t>
                      </a:r>
                    </a:p>
                  </a:txBody>
                  <a:tcPr anchor="ctr">
                    <a:lnL>
                      <a:noFill/>
                    </a:lnL>
                    <a:lnR>
                      <a:noFill/>
                    </a:lnR>
                    <a:lnT>
                      <a:noFill/>
                    </a:lnT>
                    <a:lnB w="9525">
                      <a:solidFill>
                        <a:srgbClr val="CBC5BA"/>
                      </a:solidFill>
                    </a:lnB>
                    <a:noFill/>
                  </a:tcPr>
                </a:tc>
                <a:tc>
                  <a:txBody>
                    <a:bodyPr lIns="0" rIns="0"/>
                    <a:lstStyle/>
                    <a:p>
                      <a:pPr algn="l">
                        <a:defRPr sz="1800" b="0">
                          <a:solidFill>
                            <a:srgbClr val="1E1D1B"/>
                          </a:solidFill>
                          <a:latin typeface="Calibri"/>
                        </a:defRPr>
                      </a:pPr>
                      <a:r>
                        <a:t>Daily report</a:t>
                      </a:r>
                    </a:p>
                  </a:txBody>
                  <a:tcPr anchor="ctr">
                    <a:lnL>
                      <a:noFill/>
                    </a:lnL>
                    <a:lnR>
                      <a:noFill/>
                    </a:lnR>
                    <a:lnT>
                      <a:noFill/>
                    </a:lnT>
                    <a:lnB w="9525">
                      <a:solidFill>
                        <a:srgbClr val="CBC5BA"/>
                      </a:solidFill>
                    </a:lnB>
                    <a:noFill/>
                  </a:tcPr>
                </a:tc>
                <a:tc>
                  <a:txBody>
                    <a:bodyPr lIns="0" rIns="0"/>
                    <a:lstStyle/>
                    <a:p>
                      <a:pPr algn="l">
                        <a:defRPr sz="1800" b="1">
                          <a:solidFill>
                            <a:srgbClr val="1E1D1B"/>
                          </a:solidFill>
                          <a:latin typeface="Calibri"/>
                        </a:defRPr>
                      </a:pPr>
                      <a:r>
                        <a:t>On demand (&lt;1 s)</a:t>
                      </a:r>
                    </a:p>
                  </a:txBody>
                  <a:tcPr anchor="ctr">
                    <a:lnL>
                      <a:noFill/>
                    </a:lnL>
                    <a:lnR>
                      <a:noFill/>
                    </a:lnR>
                    <a:lnT>
                      <a:noFill/>
                    </a:lnT>
                    <a:lnB w="9525">
                      <a:solidFill>
                        <a:srgbClr val="CBC5BA"/>
                      </a:solidFill>
                    </a:lnB>
                    <a:solidFill>
                      <a:srgbClr val="DCE5DF"/>
                    </a:solidFill>
                  </a:tcPr>
                </a:tc>
              </a:tr>
            </a:tbl>
          </a:graphicData>
        </a:graphic>
      </p:graphicFrame>
      <p:sp>
        <p:nvSpPr>
          <p:cNvPr id="7" name="TextBox 6"/>
          <p:cNvSpPr txBox="1"/>
          <p:nvPr/>
        </p:nvSpPr>
        <p:spPr>
          <a:xfrm>
            <a:off x="685800" y="5147377"/>
            <a:ext cx="10820095" cy="238109"/>
          </a:xfrm>
          <a:prstGeom prst="rect">
            <a:avLst/>
          </a:prstGeom>
          <a:noFill/>
        </p:spPr>
        <p:txBody>
          <a:bodyPr wrap="square" lIns="0" rIns="0" tIns="0" bIns="0">
            <a:noAutofit/>
          </a:bodyPr>
          <a:lstStyle/>
          <a:p>
            <a:pPr algn="l">
              <a:lnSpc>
                <a:spcPct val="120000"/>
              </a:lnSpc>
            </a:pPr>
            <a:r>
              <a:rPr sz="1400" b="0" i="0">
                <a:solidFill>
                  <a:srgbClr val="5C5750"/>
                </a:solidFill>
                <a:latin typeface="Calibri"/>
              </a:rPr>
              <a:t>Comparison based on public Delhi-NCR air quality monitoring interfaces.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layout:section">
    <p:bg>
      <p:bgPr>
        <a:solidFill>
          <a:srgbClr val="1F2523"/>
        </a:solidFill>
        <a:effectLst/>
      </p:bgPr>
    </p:bg>
    <p:spTree>
      <p:nvGrpSpPr>
        <p:cNvPr id="1" name=""/>
        <p:cNvGrpSpPr/>
        <p:nvPr/>
      </p:nvGrpSpPr>
      <p:grpSpPr/>
      <p:sp>
        <p:nvSpPr>
          <p:cNvPr id="2" name="TextBox 1"/>
          <p:cNvSpPr txBox="1"/>
          <p:nvPr/>
        </p:nvSpPr>
        <p:spPr>
          <a:xfrm>
            <a:off x="685800" y="2377440"/>
            <a:ext cx="7137196" cy="670560"/>
          </a:xfrm>
          <a:prstGeom prst="rect">
            <a:avLst/>
          </a:prstGeom>
          <a:noFill/>
        </p:spPr>
        <p:txBody>
          <a:bodyPr wrap="square" lIns="0" rIns="0" tIns="0" bIns="0">
            <a:noAutofit/>
          </a:bodyPr>
          <a:lstStyle/>
          <a:p>
            <a:pPr algn="l">
              <a:lnSpc>
                <a:spcPct val="100000"/>
              </a:lnSpc>
            </a:pPr>
            <a:r>
              <a:rPr sz="4400" b="0" i="0">
                <a:solidFill>
                  <a:srgbClr val="8FB8A6"/>
                </a:solidFill>
                <a:latin typeface="Georgia"/>
              </a:rPr>
              <a:t>02</a:t>
            </a:r>
          </a:p>
        </p:txBody>
      </p:sp>
      <p:sp>
        <p:nvSpPr>
          <p:cNvPr id="3" name="kit:title"/>
          <p:cNvSpPr txBox="1"/>
          <p:nvPr/>
        </p:nvSpPr>
        <p:spPr>
          <a:xfrm>
            <a:off x="685800" y="3276600"/>
            <a:ext cx="7137196" cy="1828800"/>
          </a:xfrm>
          <a:prstGeom prst="rect">
            <a:avLst/>
          </a:prstGeom>
          <a:noFill/>
        </p:spPr>
        <p:txBody>
          <a:bodyPr wrap="square" lIns="0" rIns="0" tIns="0" bIns="0">
            <a:noAutofit/>
          </a:bodyPr>
          <a:lstStyle/>
          <a:p>
            <a:pPr algn="l">
              <a:lnSpc>
                <a:spcPct val="100000"/>
              </a:lnSpc>
            </a:pPr>
            <a:r>
              <a:rPr sz="6000" b="0" i="0">
                <a:solidFill>
                  <a:srgbClr val="F1EEE8"/>
                </a:solidFill>
                <a:latin typeface="Georgia"/>
              </a:rPr>
              <a:t>The atmospheric transport engine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layout:split">
    <p:bg>
      <p:bgPr>
        <a:solidFill>
          <a:srgbClr val="F1EEE8"/>
        </a:solidFill>
        <a:effectLst/>
      </p:bgPr>
    </p:bg>
    <p:spTree>
      <p:nvGrpSpPr>
        <p:cNvPr id="1" name=""/>
        <p:cNvGrpSpPr/>
        <p:nvPr/>
      </p:nvGrpSpPr>
      <p:grpSpPr/>
      <p:sp>
        <p:nvSpPr>
          <p:cNvPr id="2" name="kit:eyebrow"/>
          <p:cNvSpPr txBox="1"/>
          <p:nvPr/>
        </p:nvSpPr>
        <p:spPr>
          <a:xfrm>
            <a:off x="685800" y="548640"/>
            <a:ext cx="10820095" cy="152400"/>
          </a:xfrm>
          <a:prstGeom prst="rect">
            <a:avLst/>
          </a:prstGeom>
          <a:noFill/>
        </p:spPr>
        <p:txBody>
          <a:bodyPr wrap="square" lIns="0" rIns="0" tIns="0" bIns="0">
            <a:noAutofit/>
          </a:bodyPr>
          <a:lstStyle/>
          <a:p>
            <a:pPr algn="l">
              <a:lnSpc>
                <a:spcPct val="100000"/>
              </a:lnSpc>
            </a:pPr>
            <a:r>
              <a:rPr sz="1200" b="1" i="0" spc="150">
                <a:solidFill>
                  <a:srgbClr val="5C5750"/>
                </a:solidFill>
                <a:latin typeface="Calibri"/>
              </a:rPr>
              <a:t>ARCHITECTURE</a:t>
            </a:r>
          </a:p>
        </p:txBody>
      </p:sp>
      <p:sp>
        <p:nvSpPr>
          <p:cNvPr id="3" name="kit:title"/>
          <p:cNvSpPr txBox="1"/>
          <p:nvPr/>
        </p:nvSpPr>
        <p:spPr>
          <a:xfrm>
            <a:off x="685800" y="822960"/>
            <a:ext cx="10820095" cy="497433"/>
          </a:xfrm>
          <a:prstGeom prst="rect">
            <a:avLst/>
          </a:prstGeom>
          <a:noFill/>
        </p:spPr>
        <p:txBody>
          <a:bodyPr wrap="square" lIns="0" rIns="0" tIns="0" bIns="0">
            <a:noAutofit/>
          </a:bodyPr>
          <a:lstStyle/>
          <a:p>
            <a:pPr algn="l">
              <a:lnSpc>
                <a:spcPct val="105000"/>
              </a:lnSpc>
            </a:pPr>
            <a:r>
              <a:rPr sz="3200" b="0" i="0">
                <a:solidFill>
                  <a:srgbClr val="1E1D1B"/>
                </a:solidFill>
                <a:latin typeface="Georgia"/>
              </a:rPr>
              <a:t>Three pipeline stages link satellites to receivers</a:t>
            </a:r>
          </a:p>
        </p:txBody>
      </p:sp>
      <p:sp>
        <p:nvSpPr>
          <p:cNvPr id="4" name="kit:footer"/>
          <p:cNvSpPr txBox="1"/>
          <p:nvPr/>
        </p:nvSpPr>
        <p:spPr>
          <a:xfrm>
            <a:off x="685800" y="6355080"/>
            <a:ext cx="4572000" cy="157480"/>
          </a:xfrm>
          <a:prstGeom prst="rect">
            <a:avLst/>
          </a:prstGeom>
          <a:noFill/>
        </p:spPr>
        <p:txBody>
          <a:bodyPr wrap="square" lIns="0" rIns="0" tIns="0" bIns="0">
            <a:noAutofit/>
          </a:bodyPr>
          <a:lstStyle/>
          <a:p>
            <a:pPr algn="l">
              <a:lnSpc>
                <a:spcPct val="100000"/>
              </a:lnSpc>
            </a:pPr>
            <a:r>
              <a:rPr sz="1000" b="0" i="0">
                <a:solidFill>
                  <a:srgbClr val="5C5750"/>
                </a:solidFill>
                <a:latin typeface="Calibri"/>
              </a:rPr>
              <a:t>Smoke Horizon</a:t>
            </a:r>
          </a:p>
        </p:txBody>
      </p:sp>
      <p:sp>
        <p:nvSpPr>
          <p:cNvPr id="5" name="kit:footer:2"/>
          <p:cNvSpPr txBox="1"/>
          <p:nvPr/>
        </p:nvSpPr>
        <p:spPr>
          <a:xfrm>
            <a:off x="6210147" y="6355080"/>
            <a:ext cx="5295747" cy="157480"/>
          </a:xfrm>
          <a:prstGeom prst="rect">
            <a:avLst/>
          </a:prstGeom>
          <a:noFill/>
        </p:spPr>
        <p:txBody>
          <a:bodyPr wrap="square" lIns="0" rIns="0" tIns="0" bIns="0">
            <a:noAutofit/>
          </a:bodyPr>
          <a:lstStyle/>
          <a:p>
            <a:pPr algn="r">
              <a:lnSpc>
                <a:spcPct val="100000"/>
              </a:lnSpc>
            </a:pPr>
            <a:r>
              <a:rPr sz="1000" b="0" i="0">
                <a:solidFill>
                  <a:srgbClr val="5C5750"/>
                </a:solidFill>
                <a:latin typeface="Calibri"/>
              </a:rPr>
              <a:t>6</a:t>
            </a:r>
          </a:p>
        </p:txBody>
      </p:sp>
      <p:sp>
        <p:nvSpPr>
          <p:cNvPr id="6" name="kit:panel"/>
          <p:cNvSpPr/>
          <p:nvPr/>
        </p:nvSpPr>
        <p:spPr>
          <a:xfrm>
            <a:off x="5289423" y="2057400"/>
            <a:ext cx="6216472" cy="1079906"/>
          </a:xfrm>
          <a:prstGeom prst="roundRect">
            <a:avLst>
              <a:gd name="adj" fmla="val 5080"/>
            </a:avLst>
          </a:prstGeom>
          <a:solidFill>
            <a:srgbClr val="E3DDD2"/>
          </a:solidFill>
          <a:ln>
            <a:noFill/>
          </a:ln>
        </p:spPr>
        <p:txBody>
          <a:bodyPr rtlCol="0" anchor="ctr"/>
          <a:lstStyle/>
          <a:p>
            <a:pPr algn="ctr"/>
          </a:p>
        </p:txBody>
      </p:sp>
      <p:sp>
        <p:nvSpPr>
          <p:cNvPr id="7" name="TextBox 6"/>
          <p:cNvSpPr txBox="1"/>
          <p:nvPr/>
        </p:nvSpPr>
        <p:spPr>
          <a:xfrm>
            <a:off x="5518023" y="2167128"/>
            <a:ext cx="5759272" cy="152400"/>
          </a:xfrm>
          <a:prstGeom prst="rect">
            <a:avLst/>
          </a:prstGeom>
          <a:noFill/>
        </p:spPr>
        <p:txBody>
          <a:bodyPr wrap="square" lIns="0" rIns="0" tIns="0" bIns="0">
            <a:noAutofit/>
          </a:bodyPr>
          <a:lstStyle/>
          <a:p>
            <a:pPr algn="l">
              <a:lnSpc>
                <a:spcPct val="100000"/>
              </a:lnSpc>
            </a:pPr>
            <a:r>
              <a:rPr sz="1200" b="1" i="0" spc="150">
                <a:solidFill>
                  <a:srgbClr val="5C5750"/>
                </a:solidFill>
                <a:latin typeface="Calibri"/>
              </a:rPr>
              <a:t>INGESTION</a:t>
            </a:r>
          </a:p>
        </p:txBody>
      </p:sp>
      <p:sp>
        <p:nvSpPr>
          <p:cNvPr id="8" name="TextBox 7"/>
          <p:cNvSpPr txBox="1"/>
          <p:nvPr/>
        </p:nvSpPr>
        <p:spPr>
          <a:xfrm>
            <a:off x="5518023" y="2374392"/>
            <a:ext cx="5759272" cy="360314"/>
          </a:xfrm>
          <a:prstGeom prst="rect">
            <a:avLst/>
          </a:prstGeom>
          <a:noFill/>
        </p:spPr>
        <p:txBody>
          <a:bodyPr wrap="square" lIns="0" rIns="0" tIns="0" bIns="0">
            <a:noAutofit/>
          </a:bodyPr>
          <a:lstStyle/>
          <a:p>
            <a:pPr algn="l">
              <a:lnSpc>
                <a:spcPct val="110000"/>
              </a:lnSpc>
            </a:pPr>
            <a:r>
              <a:rPr sz="2200" b="1" i="0">
                <a:solidFill>
                  <a:srgbClr val="1E1D1B"/>
                </a:solidFill>
                <a:latin typeface="Calibri"/>
              </a:rPr>
              <a:t>Satellite &amp; Weather Feeds</a:t>
            </a:r>
          </a:p>
        </p:txBody>
      </p:sp>
      <p:sp>
        <p:nvSpPr>
          <p:cNvPr id="9" name="TextBox 8"/>
          <p:cNvSpPr txBox="1"/>
          <p:nvPr/>
        </p:nvSpPr>
        <p:spPr>
          <a:xfrm>
            <a:off x="5518023" y="2789570"/>
            <a:ext cx="5759272" cy="238109"/>
          </a:xfrm>
          <a:prstGeom prst="rect">
            <a:avLst/>
          </a:prstGeom>
          <a:noFill/>
        </p:spPr>
        <p:txBody>
          <a:bodyPr wrap="square" lIns="0" rIns="0" tIns="0" bIns="0">
            <a:noAutofit/>
          </a:bodyPr>
          <a:lstStyle/>
          <a:p>
            <a:pPr algn="l">
              <a:lnSpc>
                <a:spcPct val="120000"/>
              </a:lnSpc>
            </a:pPr>
            <a:r>
              <a:rPr sz="1400" b="0" i="0">
                <a:solidFill>
                  <a:srgbClr val="5C5750"/>
                </a:solidFill>
                <a:latin typeface="Calibri"/>
              </a:rPr>
              <a:t>Thermal anomalies and multi-station wind vectors</a:t>
            </a:r>
          </a:p>
        </p:txBody>
      </p:sp>
      <p:cxnSp>
        <p:nvCxnSpPr>
          <p:cNvPr id="10" name="Connector 9"/>
          <p:cNvCxnSpPr/>
          <p:nvPr/>
        </p:nvCxnSpPr>
        <p:spPr>
          <a:xfrm>
            <a:off x="8397659" y="3173882"/>
            <a:ext cx="0" cy="295808"/>
          </a:xfrm>
          <a:prstGeom prst="line">
            <a:avLst/>
          </a:prstGeom>
          <a:ln w="12700">
            <a:solidFill>
              <a:srgbClr val="5C5750"/>
            </a:solidFill>
            <a:tailEnd type="triangle" w="med" len="med"/>
          </a:ln>
        </p:spPr>
      </p:cxnSp>
      <p:sp>
        <p:nvSpPr>
          <p:cNvPr id="11" name="kit:panel:2"/>
          <p:cNvSpPr/>
          <p:nvPr/>
        </p:nvSpPr>
        <p:spPr>
          <a:xfrm>
            <a:off x="5289423" y="3506266"/>
            <a:ext cx="6216472" cy="1079906"/>
          </a:xfrm>
          <a:prstGeom prst="roundRect">
            <a:avLst>
              <a:gd name="adj" fmla="val 5080"/>
            </a:avLst>
          </a:prstGeom>
          <a:solidFill>
            <a:srgbClr val="E3DDD2"/>
          </a:solidFill>
          <a:ln>
            <a:noFill/>
          </a:ln>
        </p:spPr>
        <p:txBody>
          <a:bodyPr rtlCol="0" anchor="ctr"/>
          <a:lstStyle/>
          <a:p>
            <a:pPr algn="ctr"/>
          </a:p>
        </p:txBody>
      </p:sp>
      <p:sp>
        <p:nvSpPr>
          <p:cNvPr id="12" name="TextBox 11"/>
          <p:cNvSpPr txBox="1"/>
          <p:nvPr/>
        </p:nvSpPr>
        <p:spPr>
          <a:xfrm>
            <a:off x="5518023" y="3615994"/>
            <a:ext cx="5759272" cy="152400"/>
          </a:xfrm>
          <a:prstGeom prst="rect">
            <a:avLst/>
          </a:prstGeom>
          <a:noFill/>
        </p:spPr>
        <p:txBody>
          <a:bodyPr wrap="square" lIns="0" rIns="0" tIns="0" bIns="0">
            <a:noAutofit/>
          </a:bodyPr>
          <a:lstStyle/>
          <a:p>
            <a:pPr algn="l">
              <a:lnSpc>
                <a:spcPct val="100000"/>
              </a:lnSpc>
            </a:pPr>
            <a:r>
              <a:rPr sz="1200" b="1" i="0" spc="150">
                <a:solidFill>
                  <a:srgbClr val="2F5D50"/>
                </a:solidFill>
                <a:latin typeface="Calibri"/>
              </a:rPr>
              <a:t>TRANSPORT</a:t>
            </a:r>
          </a:p>
        </p:txBody>
      </p:sp>
      <p:sp>
        <p:nvSpPr>
          <p:cNvPr id="13" name="TextBox 12"/>
          <p:cNvSpPr txBox="1"/>
          <p:nvPr/>
        </p:nvSpPr>
        <p:spPr>
          <a:xfrm>
            <a:off x="5518023" y="3823258"/>
            <a:ext cx="5759272" cy="360314"/>
          </a:xfrm>
          <a:prstGeom prst="rect">
            <a:avLst/>
          </a:prstGeom>
          <a:noFill/>
        </p:spPr>
        <p:txBody>
          <a:bodyPr wrap="square" lIns="0" rIns="0" tIns="0" bIns="0">
            <a:noAutofit/>
          </a:bodyPr>
          <a:lstStyle/>
          <a:p>
            <a:pPr algn="l">
              <a:lnSpc>
                <a:spcPct val="110000"/>
              </a:lnSpc>
            </a:pPr>
            <a:r>
              <a:rPr sz="2200" b="1" i="0">
                <a:solidFill>
                  <a:srgbClr val="1E1D1B"/>
                </a:solidFill>
                <a:latin typeface="Calibri"/>
              </a:rPr>
              <a:t>Lagrangian Dispersion</a:t>
            </a:r>
          </a:p>
        </p:txBody>
      </p:sp>
      <p:sp>
        <p:nvSpPr>
          <p:cNvPr id="14" name="TextBox 13"/>
          <p:cNvSpPr txBox="1"/>
          <p:nvPr/>
        </p:nvSpPr>
        <p:spPr>
          <a:xfrm>
            <a:off x="5518023" y="4238437"/>
            <a:ext cx="5759272" cy="238109"/>
          </a:xfrm>
          <a:prstGeom prst="rect">
            <a:avLst/>
          </a:prstGeom>
          <a:noFill/>
        </p:spPr>
        <p:txBody>
          <a:bodyPr wrap="square" lIns="0" rIns="0" tIns="0" bIns="0">
            <a:noAutofit/>
          </a:bodyPr>
          <a:lstStyle/>
          <a:p>
            <a:pPr algn="l">
              <a:lnSpc>
                <a:spcPct val="120000"/>
              </a:lnSpc>
            </a:pPr>
            <a:r>
              <a:rPr sz="1400" b="0" i="0">
                <a:solidFill>
                  <a:srgbClr val="5C5750"/>
                </a:solidFill>
                <a:latin typeface="Calibri"/>
              </a:rPr>
              <a:t>Puff advection with humidity and rain scavenging</a:t>
            </a:r>
          </a:p>
        </p:txBody>
      </p:sp>
      <p:cxnSp>
        <p:nvCxnSpPr>
          <p:cNvPr id="15" name="Connector 14"/>
          <p:cNvCxnSpPr/>
          <p:nvPr/>
        </p:nvCxnSpPr>
        <p:spPr>
          <a:xfrm>
            <a:off x="8397659" y="4622749"/>
            <a:ext cx="0" cy="295808"/>
          </a:xfrm>
          <a:prstGeom prst="line">
            <a:avLst/>
          </a:prstGeom>
          <a:ln w="12700">
            <a:solidFill>
              <a:srgbClr val="5C5750"/>
            </a:solidFill>
            <a:tailEnd type="triangle" w="med" len="med"/>
          </a:ln>
        </p:spPr>
      </p:cxnSp>
      <p:sp>
        <p:nvSpPr>
          <p:cNvPr id="16" name="kit:panel:3"/>
          <p:cNvSpPr/>
          <p:nvPr/>
        </p:nvSpPr>
        <p:spPr>
          <a:xfrm>
            <a:off x="5289423" y="4955133"/>
            <a:ext cx="6216472" cy="1079906"/>
          </a:xfrm>
          <a:prstGeom prst="roundRect">
            <a:avLst>
              <a:gd name="adj" fmla="val 5080"/>
            </a:avLst>
          </a:prstGeom>
          <a:solidFill>
            <a:srgbClr val="E3DDD2"/>
          </a:solidFill>
          <a:ln>
            <a:noFill/>
          </a:ln>
        </p:spPr>
        <p:txBody>
          <a:bodyPr rtlCol="0" anchor="ctr"/>
          <a:lstStyle/>
          <a:p>
            <a:pPr algn="ctr"/>
          </a:p>
        </p:txBody>
      </p:sp>
      <p:sp>
        <p:nvSpPr>
          <p:cNvPr id="17" name="TextBox 16"/>
          <p:cNvSpPr txBox="1"/>
          <p:nvPr/>
        </p:nvSpPr>
        <p:spPr>
          <a:xfrm>
            <a:off x="5518023" y="5064861"/>
            <a:ext cx="5759272" cy="152400"/>
          </a:xfrm>
          <a:prstGeom prst="rect">
            <a:avLst/>
          </a:prstGeom>
          <a:noFill/>
        </p:spPr>
        <p:txBody>
          <a:bodyPr wrap="square" lIns="0" rIns="0" tIns="0" bIns="0">
            <a:noAutofit/>
          </a:bodyPr>
          <a:lstStyle/>
          <a:p>
            <a:pPr algn="l">
              <a:lnSpc>
                <a:spcPct val="100000"/>
              </a:lnSpc>
            </a:pPr>
            <a:r>
              <a:rPr sz="1200" b="1" i="0" spc="150">
                <a:solidFill>
                  <a:srgbClr val="5C5750"/>
                </a:solidFill>
                <a:latin typeface="Calibri"/>
              </a:rPr>
              <a:t>RECEPTORS</a:t>
            </a:r>
          </a:p>
        </p:txBody>
      </p:sp>
      <p:sp>
        <p:nvSpPr>
          <p:cNvPr id="18" name="TextBox 17"/>
          <p:cNvSpPr txBox="1"/>
          <p:nvPr/>
        </p:nvSpPr>
        <p:spPr>
          <a:xfrm>
            <a:off x="5518023" y="5272125"/>
            <a:ext cx="5759272" cy="360314"/>
          </a:xfrm>
          <a:prstGeom prst="rect">
            <a:avLst/>
          </a:prstGeom>
          <a:noFill/>
        </p:spPr>
        <p:txBody>
          <a:bodyPr wrap="square" lIns="0" rIns="0" tIns="0" bIns="0">
            <a:noAutofit/>
          </a:bodyPr>
          <a:lstStyle/>
          <a:p>
            <a:pPr algn="l">
              <a:lnSpc>
                <a:spcPct val="110000"/>
              </a:lnSpc>
            </a:pPr>
            <a:r>
              <a:rPr sz="2200" b="1" i="0">
                <a:solidFill>
                  <a:srgbClr val="1E1D1B"/>
                </a:solidFill>
                <a:latin typeface="Calibri"/>
              </a:rPr>
              <a:t>Health Exposure Scoring</a:t>
            </a:r>
          </a:p>
        </p:txBody>
      </p:sp>
      <p:sp>
        <p:nvSpPr>
          <p:cNvPr id="19" name="TextBox 18"/>
          <p:cNvSpPr txBox="1"/>
          <p:nvPr/>
        </p:nvSpPr>
        <p:spPr>
          <a:xfrm>
            <a:off x="5518023" y="5687303"/>
            <a:ext cx="5759272" cy="238109"/>
          </a:xfrm>
          <a:prstGeom prst="rect">
            <a:avLst/>
          </a:prstGeom>
          <a:noFill/>
        </p:spPr>
        <p:txBody>
          <a:bodyPr wrap="square" lIns="0" rIns="0" tIns="0" bIns="0">
            <a:noAutofit/>
          </a:bodyPr>
          <a:lstStyle/>
          <a:p>
            <a:pPr algn="l">
              <a:lnSpc>
                <a:spcPct val="120000"/>
              </a:lnSpc>
            </a:pPr>
            <a:r>
              <a:rPr sz="1400" b="0" i="0">
                <a:solidFill>
                  <a:srgbClr val="5C5750"/>
                </a:solidFill>
                <a:latin typeface="Calibri"/>
              </a:rPr>
              <a:t>Personalized vulnerability curves at user coordinates</a:t>
            </a:r>
          </a:p>
        </p:txBody>
      </p:sp>
      <p:sp>
        <p:nvSpPr>
          <p:cNvPr id="20" name="TextBox 19"/>
          <p:cNvSpPr txBox="1"/>
          <p:nvPr/>
        </p:nvSpPr>
        <p:spPr>
          <a:xfrm>
            <a:off x="685800" y="2325258"/>
            <a:ext cx="4375023" cy="360314"/>
          </a:xfrm>
          <a:prstGeom prst="rect">
            <a:avLst/>
          </a:prstGeom>
          <a:noFill/>
        </p:spPr>
        <p:txBody>
          <a:bodyPr wrap="square" lIns="0" rIns="0" tIns="0" bIns="0">
            <a:noAutofit/>
          </a:bodyPr>
          <a:lstStyle/>
          <a:p>
            <a:pPr algn="l">
              <a:lnSpc>
                <a:spcPct val="110000"/>
              </a:lnSpc>
            </a:pPr>
            <a:r>
              <a:rPr sz="2200" b="1" i="0">
                <a:solidFill>
                  <a:srgbClr val="1E1D1B"/>
                </a:solidFill>
                <a:latin typeface="Calibri"/>
              </a:rPr>
              <a:t>Data ingestion</a:t>
            </a:r>
          </a:p>
        </p:txBody>
      </p:sp>
      <p:sp>
        <p:nvSpPr>
          <p:cNvPr id="21" name="TextBox 20"/>
          <p:cNvSpPr txBox="1"/>
          <p:nvPr/>
        </p:nvSpPr>
        <p:spPr>
          <a:xfrm>
            <a:off x="685800" y="2799872"/>
            <a:ext cx="4375023" cy="708659"/>
          </a:xfrm>
          <a:prstGeom prst="rect">
            <a:avLst/>
          </a:prstGeom>
          <a:noFill/>
        </p:spPr>
        <p:txBody>
          <a:bodyPr wrap="square" lIns="0" rIns="0" tIns="0" bIns="0">
            <a:noAutofit/>
          </a:bodyPr>
          <a:lstStyle/>
          <a:p>
            <a:pPr algn="l">
              <a:lnSpc>
                <a:spcPct val="125000"/>
              </a:lnSpc>
            </a:pPr>
            <a:r>
              <a:rPr sz="1800" b="0" i="0">
                <a:solidFill>
                  <a:srgbClr val="1E1D1B"/>
                </a:solidFill>
                <a:latin typeface="Calibri"/>
              </a:rPr>
              <a:t>Combines FIRMS fire feeds with regional weather stations.</a:t>
            </a:r>
          </a:p>
        </p:txBody>
      </p:sp>
      <p:sp>
        <p:nvSpPr>
          <p:cNvPr id="22" name="TextBox 21"/>
          <p:cNvSpPr txBox="1"/>
          <p:nvPr/>
        </p:nvSpPr>
        <p:spPr>
          <a:xfrm>
            <a:off x="685800" y="3851432"/>
            <a:ext cx="4375023" cy="360314"/>
          </a:xfrm>
          <a:prstGeom prst="rect">
            <a:avLst/>
          </a:prstGeom>
          <a:noFill/>
        </p:spPr>
        <p:txBody>
          <a:bodyPr wrap="square" lIns="0" rIns="0" tIns="0" bIns="0">
            <a:noAutofit/>
          </a:bodyPr>
          <a:lstStyle/>
          <a:p>
            <a:pPr algn="l">
              <a:lnSpc>
                <a:spcPct val="110000"/>
              </a:lnSpc>
            </a:pPr>
            <a:r>
              <a:rPr sz="2200" b="1" i="0">
                <a:solidFill>
                  <a:srgbClr val="1E1D1B"/>
                </a:solidFill>
                <a:latin typeface="Calibri"/>
              </a:rPr>
              <a:t>Transport physics</a:t>
            </a:r>
          </a:p>
        </p:txBody>
      </p:sp>
      <p:sp>
        <p:nvSpPr>
          <p:cNvPr id="23" name="TextBox 22"/>
          <p:cNvSpPr txBox="1"/>
          <p:nvPr/>
        </p:nvSpPr>
        <p:spPr>
          <a:xfrm>
            <a:off x="685800" y="4326046"/>
            <a:ext cx="4375023" cy="311810"/>
          </a:xfrm>
          <a:prstGeom prst="rect">
            <a:avLst/>
          </a:prstGeom>
          <a:noFill/>
        </p:spPr>
        <p:txBody>
          <a:bodyPr wrap="square" lIns="0" rIns="0" tIns="0" bIns="0">
            <a:noAutofit/>
          </a:bodyPr>
          <a:lstStyle/>
          <a:p>
            <a:pPr algn="l">
              <a:lnSpc>
                <a:spcPct val="125000"/>
              </a:lnSpc>
            </a:pPr>
            <a:r>
              <a:rPr sz="1800" b="0" i="0">
                <a:solidFill>
                  <a:srgbClr val="1E1D1B"/>
                </a:solidFill>
                <a:latin typeface="Calibri"/>
              </a:rPr>
              <a:t>Advects smoke parcels with scavenging decay.</a:t>
            </a:r>
          </a:p>
        </p:txBody>
      </p:sp>
      <p:sp>
        <p:nvSpPr>
          <p:cNvPr id="24" name="TextBox 23"/>
          <p:cNvSpPr txBox="1"/>
          <p:nvPr/>
        </p:nvSpPr>
        <p:spPr>
          <a:xfrm>
            <a:off x="685800" y="4980757"/>
            <a:ext cx="4375023" cy="360314"/>
          </a:xfrm>
          <a:prstGeom prst="rect">
            <a:avLst/>
          </a:prstGeom>
          <a:noFill/>
        </p:spPr>
        <p:txBody>
          <a:bodyPr wrap="square" lIns="0" rIns="0" tIns="0" bIns="0">
            <a:noAutofit/>
          </a:bodyPr>
          <a:lstStyle/>
          <a:p>
            <a:pPr algn="l">
              <a:lnSpc>
                <a:spcPct val="110000"/>
              </a:lnSpc>
            </a:pPr>
            <a:r>
              <a:rPr sz="2200" b="1" i="0">
                <a:solidFill>
                  <a:srgbClr val="1E1D1B"/>
                </a:solidFill>
                <a:latin typeface="Calibri"/>
              </a:rPr>
              <a:t>Exposure scoring</a:t>
            </a:r>
          </a:p>
        </p:txBody>
      </p:sp>
      <p:sp>
        <p:nvSpPr>
          <p:cNvPr id="25" name="TextBox 24"/>
          <p:cNvSpPr txBox="1"/>
          <p:nvPr/>
        </p:nvSpPr>
        <p:spPr>
          <a:xfrm>
            <a:off x="685800" y="5455371"/>
            <a:ext cx="4375023" cy="311810"/>
          </a:xfrm>
          <a:prstGeom prst="rect">
            <a:avLst/>
          </a:prstGeom>
          <a:noFill/>
        </p:spPr>
        <p:txBody>
          <a:bodyPr wrap="square" lIns="0" rIns="0" tIns="0" bIns="0">
            <a:noAutofit/>
          </a:bodyPr>
          <a:lstStyle/>
          <a:p>
            <a:pPr algn="l">
              <a:lnSpc>
                <a:spcPct val="125000"/>
              </a:lnSpc>
            </a:pPr>
            <a:r>
              <a:rPr sz="1800" b="0" i="0">
                <a:solidFill>
                  <a:srgbClr val="1E1D1B"/>
                </a:solidFill>
                <a:latin typeface="Calibri"/>
              </a:rPr>
              <a:t>Calculates PM2.5 risk at user coordinates.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layout:process">
    <p:bg>
      <p:bgPr>
        <a:solidFill>
          <a:srgbClr val="F1EEE8"/>
        </a:solidFill>
        <a:effectLst/>
      </p:bgPr>
    </p:bg>
    <p:spTree>
      <p:nvGrpSpPr>
        <p:cNvPr id="1" name=""/>
        <p:cNvGrpSpPr/>
        <p:nvPr/>
      </p:nvGrpSpPr>
      <p:grpSpPr/>
      <p:sp>
        <p:nvSpPr>
          <p:cNvPr id="2" name="kit:eyebrow"/>
          <p:cNvSpPr txBox="1"/>
          <p:nvPr/>
        </p:nvSpPr>
        <p:spPr>
          <a:xfrm>
            <a:off x="685800" y="548640"/>
            <a:ext cx="10820095" cy="152400"/>
          </a:xfrm>
          <a:prstGeom prst="rect">
            <a:avLst/>
          </a:prstGeom>
          <a:noFill/>
        </p:spPr>
        <p:txBody>
          <a:bodyPr wrap="square" lIns="0" rIns="0" tIns="0" bIns="0">
            <a:noAutofit/>
          </a:bodyPr>
          <a:lstStyle/>
          <a:p>
            <a:pPr algn="l">
              <a:lnSpc>
                <a:spcPct val="100000"/>
              </a:lnSpc>
            </a:pPr>
            <a:r>
              <a:rPr sz="1200" b="1" i="0" spc="150">
                <a:solidFill>
                  <a:srgbClr val="5C5750"/>
                </a:solidFill>
                <a:latin typeface="Calibri"/>
              </a:rPr>
              <a:t>DISPERSION MODEL</a:t>
            </a:r>
          </a:p>
        </p:txBody>
      </p:sp>
      <p:sp>
        <p:nvSpPr>
          <p:cNvPr id="3" name="kit:title"/>
          <p:cNvSpPr txBox="1"/>
          <p:nvPr/>
        </p:nvSpPr>
        <p:spPr>
          <a:xfrm>
            <a:off x="685800" y="822960"/>
            <a:ext cx="10820095" cy="497433"/>
          </a:xfrm>
          <a:prstGeom prst="rect">
            <a:avLst/>
          </a:prstGeom>
          <a:noFill/>
        </p:spPr>
        <p:txBody>
          <a:bodyPr wrap="square" lIns="0" rIns="0" tIns="0" bIns="0">
            <a:noAutofit/>
          </a:bodyPr>
          <a:lstStyle/>
          <a:p>
            <a:pPr algn="l">
              <a:lnSpc>
                <a:spcPct val="105000"/>
              </a:lnSpc>
            </a:pPr>
            <a:r>
              <a:rPr sz="3200" b="0" i="0">
                <a:solidFill>
                  <a:srgbClr val="1E1D1B"/>
                </a:solidFill>
                <a:latin typeface="Georgia"/>
              </a:rPr>
              <a:t>Lagrangian puff tracking models plume dispersion</a:t>
            </a:r>
          </a:p>
        </p:txBody>
      </p:sp>
      <p:sp>
        <p:nvSpPr>
          <p:cNvPr id="4" name="kit:footer"/>
          <p:cNvSpPr txBox="1"/>
          <p:nvPr/>
        </p:nvSpPr>
        <p:spPr>
          <a:xfrm>
            <a:off x="685800" y="6355080"/>
            <a:ext cx="4572000" cy="157480"/>
          </a:xfrm>
          <a:prstGeom prst="rect">
            <a:avLst/>
          </a:prstGeom>
          <a:noFill/>
        </p:spPr>
        <p:txBody>
          <a:bodyPr wrap="square" lIns="0" rIns="0" tIns="0" bIns="0">
            <a:noAutofit/>
          </a:bodyPr>
          <a:lstStyle/>
          <a:p>
            <a:pPr algn="l">
              <a:lnSpc>
                <a:spcPct val="100000"/>
              </a:lnSpc>
            </a:pPr>
            <a:r>
              <a:rPr sz="1000" b="0" i="0">
                <a:solidFill>
                  <a:srgbClr val="5C5750"/>
                </a:solidFill>
                <a:latin typeface="Calibri"/>
              </a:rPr>
              <a:t>Smoke Horizon</a:t>
            </a:r>
          </a:p>
        </p:txBody>
      </p:sp>
      <p:sp>
        <p:nvSpPr>
          <p:cNvPr id="5" name="kit:footer:2"/>
          <p:cNvSpPr txBox="1"/>
          <p:nvPr/>
        </p:nvSpPr>
        <p:spPr>
          <a:xfrm>
            <a:off x="6210147" y="6355080"/>
            <a:ext cx="5295747" cy="157480"/>
          </a:xfrm>
          <a:prstGeom prst="rect">
            <a:avLst/>
          </a:prstGeom>
          <a:noFill/>
        </p:spPr>
        <p:txBody>
          <a:bodyPr wrap="square" lIns="0" rIns="0" tIns="0" bIns="0">
            <a:noAutofit/>
          </a:bodyPr>
          <a:lstStyle/>
          <a:p>
            <a:pPr algn="r">
              <a:lnSpc>
                <a:spcPct val="100000"/>
              </a:lnSpc>
            </a:pPr>
            <a:r>
              <a:rPr sz="1000" b="0" i="0">
                <a:solidFill>
                  <a:srgbClr val="5C5750"/>
                </a:solidFill>
                <a:latin typeface="Calibri"/>
              </a:rPr>
              <a:t>7</a:t>
            </a:r>
          </a:p>
        </p:txBody>
      </p:sp>
      <p:cxnSp>
        <p:nvCxnSpPr>
          <p:cNvPr id="6" name="kit:hairline"/>
          <p:cNvCxnSpPr/>
          <p:nvPr/>
        </p:nvCxnSpPr>
        <p:spPr>
          <a:xfrm>
            <a:off x="685800" y="2709570"/>
            <a:ext cx="10820095" cy="0"/>
          </a:xfrm>
          <a:prstGeom prst="line">
            <a:avLst/>
          </a:prstGeom>
          <a:ln w="9525">
            <a:solidFill>
              <a:srgbClr val="CBC5BA"/>
            </a:solidFill>
          </a:ln>
        </p:spPr>
      </p:cxnSp>
      <p:sp>
        <p:nvSpPr>
          <p:cNvPr id="7" name="kit:node"/>
          <p:cNvSpPr/>
          <p:nvPr/>
        </p:nvSpPr>
        <p:spPr>
          <a:xfrm>
            <a:off x="685800" y="2636418"/>
            <a:ext cx="146304" cy="146304"/>
          </a:xfrm>
          <a:prstGeom prst="ellipse">
            <a:avLst/>
          </a:prstGeom>
          <a:solidFill>
            <a:srgbClr val="F1EEE8"/>
          </a:solidFill>
          <a:ln w="12700">
            <a:solidFill>
              <a:srgbClr val="1E1D1B"/>
            </a:solidFill>
          </a:ln>
        </p:spPr>
        <p:txBody>
          <a:bodyPr rtlCol="0" anchor="ctr"/>
          <a:lstStyle/>
          <a:p>
            <a:pPr algn="ctr"/>
          </a:p>
        </p:txBody>
      </p:sp>
      <p:sp>
        <p:nvSpPr>
          <p:cNvPr id="8" name="kit:node:2"/>
          <p:cNvSpPr/>
          <p:nvPr/>
        </p:nvSpPr>
        <p:spPr>
          <a:xfrm>
            <a:off x="3447973" y="2636418"/>
            <a:ext cx="146304" cy="146304"/>
          </a:xfrm>
          <a:prstGeom prst="ellipse">
            <a:avLst/>
          </a:prstGeom>
          <a:solidFill>
            <a:srgbClr val="F1EEE8"/>
          </a:solidFill>
          <a:ln w="12700">
            <a:solidFill>
              <a:srgbClr val="1E1D1B"/>
            </a:solidFill>
          </a:ln>
        </p:spPr>
        <p:txBody>
          <a:bodyPr rtlCol="0" anchor="ctr"/>
          <a:lstStyle/>
          <a:p>
            <a:pPr algn="ctr"/>
          </a:p>
        </p:txBody>
      </p:sp>
      <p:sp>
        <p:nvSpPr>
          <p:cNvPr id="9" name="kit:node:3"/>
          <p:cNvSpPr/>
          <p:nvPr/>
        </p:nvSpPr>
        <p:spPr>
          <a:xfrm>
            <a:off x="6210147" y="2636418"/>
            <a:ext cx="146304" cy="146304"/>
          </a:xfrm>
          <a:prstGeom prst="ellipse">
            <a:avLst/>
          </a:prstGeom>
          <a:solidFill>
            <a:srgbClr val="2F5D50"/>
          </a:solidFill>
          <a:ln>
            <a:noFill/>
          </a:ln>
        </p:spPr>
        <p:txBody>
          <a:bodyPr rtlCol="0" anchor="ctr"/>
          <a:lstStyle/>
          <a:p>
            <a:pPr algn="ctr"/>
          </a:p>
        </p:txBody>
      </p:sp>
      <p:sp>
        <p:nvSpPr>
          <p:cNvPr id="10" name="kit:node:4"/>
          <p:cNvSpPr/>
          <p:nvPr/>
        </p:nvSpPr>
        <p:spPr>
          <a:xfrm>
            <a:off x="8972321" y="2636418"/>
            <a:ext cx="146304" cy="146304"/>
          </a:xfrm>
          <a:prstGeom prst="ellipse">
            <a:avLst/>
          </a:prstGeom>
          <a:solidFill>
            <a:srgbClr val="F1EEE8"/>
          </a:solidFill>
          <a:ln w="12700">
            <a:solidFill>
              <a:srgbClr val="1E1D1B"/>
            </a:solidFill>
          </a:ln>
        </p:spPr>
        <p:txBody>
          <a:bodyPr rtlCol="0" anchor="ctr"/>
          <a:lstStyle/>
          <a:p>
            <a:pPr algn="ctr"/>
          </a:p>
        </p:txBody>
      </p:sp>
      <p:sp>
        <p:nvSpPr>
          <p:cNvPr id="11" name="TextBox 10"/>
          <p:cNvSpPr txBox="1"/>
          <p:nvPr/>
        </p:nvSpPr>
        <p:spPr>
          <a:xfrm>
            <a:off x="685800" y="2938170"/>
            <a:ext cx="2533573" cy="152400"/>
          </a:xfrm>
          <a:prstGeom prst="rect">
            <a:avLst/>
          </a:prstGeom>
          <a:noFill/>
        </p:spPr>
        <p:txBody>
          <a:bodyPr wrap="square" lIns="0" rIns="0" tIns="0" bIns="0">
            <a:noAutofit/>
          </a:bodyPr>
          <a:lstStyle/>
          <a:p>
            <a:pPr algn="l">
              <a:lnSpc>
                <a:spcPct val="100000"/>
              </a:lnSpc>
            </a:pPr>
            <a:r>
              <a:rPr sz="1200" b="1" i="0" spc="150">
                <a:solidFill>
                  <a:srgbClr val="5C5750"/>
                </a:solidFill>
                <a:latin typeface="Calibri"/>
              </a:rPr>
              <a:t>STEP 01</a:t>
            </a:r>
          </a:p>
        </p:txBody>
      </p:sp>
      <p:sp>
        <p:nvSpPr>
          <p:cNvPr id="12" name="TextBox 11"/>
          <p:cNvSpPr txBox="1"/>
          <p:nvPr/>
        </p:nvSpPr>
        <p:spPr>
          <a:xfrm>
            <a:off x="3447973" y="2938170"/>
            <a:ext cx="2533573" cy="152400"/>
          </a:xfrm>
          <a:prstGeom prst="rect">
            <a:avLst/>
          </a:prstGeom>
          <a:noFill/>
        </p:spPr>
        <p:txBody>
          <a:bodyPr wrap="square" lIns="0" rIns="0" tIns="0" bIns="0">
            <a:noAutofit/>
          </a:bodyPr>
          <a:lstStyle/>
          <a:p>
            <a:pPr algn="l">
              <a:lnSpc>
                <a:spcPct val="100000"/>
              </a:lnSpc>
            </a:pPr>
            <a:r>
              <a:rPr sz="1200" b="1" i="0" spc="150">
                <a:solidFill>
                  <a:srgbClr val="5C5750"/>
                </a:solidFill>
                <a:latin typeface="Calibri"/>
              </a:rPr>
              <a:t>STEP 02</a:t>
            </a:r>
          </a:p>
        </p:txBody>
      </p:sp>
      <p:sp>
        <p:nvSpPr>
          <p:cNvPr id="13" name="TextBox 12"/>
          <p:cNvSpPr txBox="1"/>
          <p:nvPr/>
        </p:nvSpPr>
        <p:spPr>
          <a:xfrm>
            <a:off x="6210147" y="2938170"/>
            <a:ext cx="2533573" cy="152400"/>
          </a:xfrm>
          <a:prstGeom prst="rect">
            <a:avLst/>
          </a:prstGeom>
          <a:noFill/>
        </p:spPr>
        <p:txBody>
          <a:bodyPr wrap="square" lIns="0" rIns="0" tIns="0" bIns="0">
            <a:noAutofit/>
          </a:bodyPr>
          <a:lstStyle/>
          <a:p>
            <a:pPr algn="l">
              <a:lnSpc>
                <a:spcPct val="100000"/>
              </a:lnSpc>
            </a:pPr>
            <a:r>
              <a:rPr sz="1200" b="1" i="0" spc="150">
                <a:solidFill>
                  <a:srgbClr val="5C5750"/>
                </a:solidFill>
                <a:latin typeface="Calibri"/>
              </a:rPr>
              <a:t>STEP 03</a:t>
            </a:r>
          </a:p>
        </p:txBody>
      </p:sp>
      <p:sp>
        <p:nvSpPr>
          <p:cNvPr id="14" name="TextBox 13"/>
          <p:cNvSpPr txBox="1"/>
          <p:nvPr/>
        </p:nvSpPr>
        <p:spPr>
          <a:xfrm>
            <a:off x="8972321" y="2938170"/>
            <a:ext cx="2533573" cy="152400"/>
          </a:xfrm>
          <a:prstGeom prst="rect">
            <a:avLst/>
          </a:prstGeom>
          <a:noFill/>
        </p:spPr>
        <p:txBody>
          <a:bodyPr wrap="square" lIns="0" rIns="0" tIns="0" bIns="0">
            <a:noAutofit/>
          </a:bodyPr>
          <a:lstStyle/>
          <a:p>
            <a:pPr algn="l">
              <a:lnSpc>
                <a:spcPct val="100000"/>
              </a:lnSpc>
            </a:pPr>
            <a:r>
              <a:rPr sz="1200" b="1" i="0" spc="150">
                <a:solidFill>
                  <a:srgbClr val="5C5750"/>
                </a:solidFill>
                <a:latin typeface="Calibri"/>
              </a:rPr>
              <a:t>STEP 04</a:t>
            </a:r>
          </a:p>
        </p:txBody>
      </p:sp>
      <p:sp>
        <p:nvSpPr>
          <p:cNvPr id="15" name="TextBox 14"/>
          <p:cNvSpPr txBox="1"/>
          <p:nvPr/>
        </p:nvSpPr>
        <p:spPr>
          <a:xfrm>
            <a:off x="685800" y="3166770"/>
            <a:ext cx="2533573" cy="360314"/>
          </a:xfrm>
          <a:prstGeom prst="rect">
            <a:avLst/>
          </a:prstGeom>
          <a:noFill/>
        </p:spPr>
        <p:txBody>
          <a:bodyPr wrap="square" lIns="0" rIns="0" tIns="0" bIns="0">
            <a:noAutofit/>
          </a:bodyPr>
          <a:lstStyle/>
          <a:p>
            <a:pPr algn="l">
              <a:lnSpc>
                <a:spcPct val="110000"/>
              </a:lnSpc>
            </a:pPr>
            <a:r>
              <a:rPr sz="2200" b="1" i="0">
                <a:solidFill>
                  <a:srgbClr val="1E1D1B"/>
                </a:solidFill>
                <a:latin typeface="Calibri"/>
              </a:rPr>
              <a:t>Fire detection</a:t>
            </a:r>
          </a:p>
        </p:txBody>
      </p:sp>
      <p:sp>
        <p:nvSpPr>
          <p:cNvPr id="16" name="TextBox 15"/>
          <p:cNvSpPr txBox="1"/>
          <p:nvPr/>
        </p:nvSpPr>
        <p:spPr>
          <a:xfrm>
            <a:off x="3447973" y="3166770"/>
            <a:ext cx="2533573" cy="360314"/>
          </a:xfrm>
          <a:prstGeom prst="rect">
            <a:avLst/>
          </a:prstGeom>
          <a:noFill/>
        </p:spPr>
        <p:txBody>
          <a:bodyPr wrap="square" lIns="0" rIns="0" tIns="0" bIns="0">
            <a:noAutofit/>
          </a:bodyPr>
          <a:lstStyle/>
          <a:p>
            <a:pPr algn="l">
              <a:lnSpc>
                <a:spcPct val="110000"/>
              </a:lnSpc>
            </a:pPr>
            <a:r>
              <a:rPr sz="2200" b="1" i="0">
                <a:solidFill>
                  <a:srgbClr val="1E1D1B"/>
                </a:solidFill>
                <a:latin typeface="Calibri"/>
              </a:rPr>
              <a:t>Diurnal scaling</a:t>
            </a:r>
          </a:p>
        </p:txBody>
      </p:sp>
      <p:sp>
        <p:nvSpPr>
          <p:cNvPr id="17" name="TextBox 16"/>
          <p:cNvSpPr txBox="1"/>
          <p:nvPr/>
        </p:nvSpPr>
        <p:spPr>
          <a:xfrm>
            <a:off x="6210147" y="3166770"/>
            <a:ext cx="2533573" cy="360314"/>
          </a:xfrm>
          <a:prstGeom prst="rect">
            <a:avLst/>
          </a:prstGeom>
          <a:noFill/>
        </p:spPr>
        <p:txBody>
          <a:bodyPr wrap="square" lIns="0" rIns="0" tIns="0" bIns="0">
            <a:noAutofit/>
          </a:bodyPr>
          <a:lstStyle/>
          <a:p>
            <a:pPr algn="l">
              <a:lnSpc>
                <a:spcPct val="110000"/>
              </a:lnSpc>
            </a:pPr>
            <a:r>
              <a:rPr sz="2200" b="1" i="0">
                <a:solidFill>
                  <a:srgbClr val="1E1D1B"/>
                </a:solidFill>
                <a:latin typeface="Calibri"/>
              </a:rPr>
              <a:t>Puff advection</a:t>
            </a:r>
          </a:p>
        </p:txBody>
      </p:sp>
      <p:sp>
        <p:nvSpPr>
          <p:cNvPr id="18" name="TextBox 17"/>
          <p:cNvSpPr txBox="1"/>
          <p:nvPr/>
        </p:nvSpPr>
        <p:spPr>
          <a:xfrm>
            <a:off x="8972321" y="3166770"/>
            <a:ext cx="2533573" cy="360314"/>
          </a:xfrm>
          <a:prstGeom prst="rect">
            <a:avLst/>
          </a:prstGeom>
          <a:noFill/>
        </p:spPr>
        <p:txBody>
          <a:bodyPr wrap="square" lIns="0" rIns="0" tIns="0" bIns="0">
            <a:noAutofit/>
          </a:bodyPr>
          <a:lstStyle/>
          <a:p>
            <a:pPr algn="l">
              <a:lnSpc>
                <a:spcPct val="110000"/>
              </a:lnSpc>
            </a:pPr>
            <a:r>
              <a:rPr sz="2200" b="1" i="0">
                <a:solidFill>
                  <a:srgbClr val="1E1D1B"/>
                </a:solidFill>
                <a:latin typeface="Calibri"/>
              </a:rPr>
              <a:t>Scavenging sinks</a:t>
            </a:r>
          </a:p>
        </p:txBody>
      </p:sp>
      <p:sp>
        <p:nvSpPr>
          <p:cNvPr id="19" name="TextBox 18"/>
          <p:cNvSpPr txBox="1"/>
          <p:nvPr/>
        </p:nvSpPr>
        <p:spPr>
          <a:xfrm>
            <a:off x="685800" y="3641384"/>
            <a:ext cx="2533573" cy="1062989"/>
          </a:xfrm>
          <a:prstGeom prst="rect">
            <a:avLst/>
          </a:prstGeom>
          <a:noFill/>
        </p:spPr>
        <p:txBody>
          <a:bodyPr wrap="square" lIns="0" rIns="0" tIns="0" bIns="0">
            <a:noAutofit/>
          </a:bodyPr>
          <a:lstStyle/>
          <a:p>
            <a:pPr algn="l">
              <a:lnSpc>
                <a:spcPct val="125000"/>
              </a:lnSpc>
            </a:pPr>
            <a:r>
              <a:rPr sz="1800" b="0" i="0">
                <a:solidFill>
                  <a:srgbClr val="1E1D1B"/>
                </a:solidFill>
                <a:latin typeface="Calibri"/>
              </a:rPr>
              <a:t>Thermal sensors log fire coordinates and radiative power output.</a:t>
            </a:r>
          </a:p>
        </p:txBody>
      </p:sp>
      <p:sp>
        <p:nvSpPr>
          <p:cNvPr id="20" name="TextBox 19"/>
          <p:cNvSpPr txBox="1"/>
          <p:nvPr/>
        </p:nvSpPr>
        <p:spPr>
          <a:xfrm>
            <a:off x="3447973" y="3641384"/>
            <a:ext cx="2533573" cy="1062989"/>
          </a:xfrm>
          <a:prstGeom prst="rect">
            <a:avLst/>
          </a:prstGeom>
          <a:noFill/>
        </p:spPr>
        <p:txBody>
          <a:bodyPr wrap="square" lIns="0" rIns="0" tIns="0" bIns="0">
            <a:noAutofit/>
          </a:bodyPr>
          <a:lstStyle/>
          <a:p>
            <a:pPr algn="l">
              <a:lnSpc>
                <a:spcPct val="125000"/>
              </a:lnSpc>
            </a:pPr>
            <a:r>
              <a:rPr sz="1800" b="0" i="0">
                <a:solidFill>
                  <a:srgbClr val="1E1D1B"/>
                </a:solidFill>
                <a:latin typeface="Calibri"/>
              </a:rPr>
              <a:t>Emissions peak between 11:00 and 15:00 IST based on field patterns.</a:t>
            </a:r>
          </a:p>
        </p:txBody>
      </p:sp>
      <p:sp>
        <p:nvSpPr>
          <p:cNvPr id="21" name="TextBox 20"/>
          <p:cNvSpPr txBox="1"/>
          <p:nvPr/>
        </p:nvSpPr>
        <p:spPr>
          <a:xfrm>
            <a:off x="6210147" y="3641384"/>
            <a:ext cx="2533573" cy="1062989"/>
          </a:xfrm>
          <a:prstGeom prst="rect">
            <a:avLst/>
          </a:prstGeom>
          <a:noFill/>
        </p:spPr>
        <p:txBody>
          <a:bodyPr wrap="square" lIns="0" rIns="0" tIns="0" bIns="0">
            <a:noAutofit/>
          </a:bodyPr>
          <a:lstStyle/>
          <a:p>
            <a:pPr algn="l">
              <a:lnSpc>
                <a:spcPct val="125000"/>
              </a:lnSpc>
            </a:pPr>
            <a:r>
              <a:rPr sz="1800" b="0" i="0">
                <a:solidFill>
                  <a:srgbClr val="1E1D1B"/>
                </a:solidFill>
                <a:latin typeface="Calibri"/>
              </a:rPr>
              <a:t>Wind vectors interpolate drift across five regional observation stations.</a:t>
            </a:r>
          </a:p>
        </p:txBody>
      </p:sp>
      <p:sp>
        <p:nvSpPr>
          <p:cNvPr id="22" name="TextBox 21"/>
          <p:cNvSpPr txBox="1"/>
          <p:nvPr/>
        </p:nvSpPr>
        <p:spPr>
          <a:xfrm>
            <a:off x="8972321" y="3641384"/>
            <a:ext cx="2533573" cy="1062989"/>
          </a:xfrm>
          <a:prstGeom prst="rect">
            <a:avLst/>
          </a:prstGeom>
          <a:noFill/>
        </p:spPr>
        <p:txBody>
          <a:bodyPr wrap="square" lIns="0" rIns="0" tIns="0" bIns="0">
            <a:noAutofit/>
          </a:bodyPr>
          <a:lstStyle/>
          <a:p>
            <a:pPr algn="l">
              <a:lnSpc>
                <a:spcPct val="125000"/>
              </a:lnSpc>
            </a:pPr>
            <a:r>
              <a:rPr sz="1800" b="0" i="0">
                <a:solidFill>
                  <a:srgbClr val="1E1D1B"/>
                </a:solidFill>
                <a:latin typeface="Calibri"/>
              </a:rPr>
              <a:t>Hygroscopic settling and precipitation wash out particulate mass in transit.</a:t>
            </a:r>
          </a:p>
        </p:txBody>
      </p:sp>
      <p:sp>
        <p:nvSpPr>
          <p:cNvPr id="23" name="TextBox 22"/>
          <p:cNvSpPr txBox="1"/>
          <p:nvPr/>
        </p:nvSpPr>
        <p:spPr>
          <a:xfrm>
            <a:off x="685800" y="4818674"/>
            <a:ext cx="2533573" cy="238109"/>
          </a:xfrm>
          <a:prstGeom prst="rect">
            <a:avLst/>
          </a:prstGeom>
          <a:noFill/>
        </p:spPr>
        <p:txBody>
          <a:bodyPr wrap="square" lIns="0" rIns="0" tIns="0" bIns="0">
            <a:noAutofit/>
          </a:bodyPr>
          <a:lstStyle/>
          <a:p>
            <a:pPr algn="l">
              <a:lnSpc>
                <a:spcPct val="120000"/>
              </a:lnSpc>
            </a:pPr>
            <a:r>
              <a:rPr sz="1400" b="0" i="0">
                <a:solidFill>
                  <a:srgbClr val="2F5D50"/>
                </a:solidFill>
                <a:latin typeface="Calibri"/>
              </a:rPr>
              <a:t>18–25 active fires</a:t>
            </a:r>
          </a:p>
        </p:txBody>
      </p:sp>
      <p:sp>
        <p:nvSpPr>
          <p:cNvPr id="24" name="TextBox 23"/>
          <p:cNvSpPr txBox="1"/>
          <p:nvPr/>
        </p:nvSpPr>
        <p:spPr>
          <a:xfrm>
            <a:off x="3447973" y="4818674"/>
            <a:ext cx="2533573" cy="238109"/>
          </a:xfrm>
          <a:prstGeom prst="rect">
            <a:avLst/>
          </a:prstGeom>
          <a:noFill/>
        </p:spPr>
        <p:txBody>
          <a:bodyPr wrap="square" lIns="0" rIns="0" tIns="0" bIns="0">
            <a:noAutofit/>
          </a:bodyPr>
          <a:lstStyle/>
          <a:p>
            <a:pPr algn="l">
              <a:lnSpc>
                <a:spcPct val="120000"/>
              </a:lnSpc>
            </a:pPr>
            <a:r>
              <a:rPr sz="1400" b="0" i="0">
                <a:solidFill>
                  <a:srgbClr val="2F5D50"/>
                </a:solidFill>
                <a:latin typeface="Calibri"/>
              </a:rPr>
              <a:t>Peak at 13:00 IST</a:t>
            </a:r>
          </a:p>
        </p:txBody>
      </p:sp>
      <p:sp>
        <p:nvSpPr>
          <p:cNvPr id="25" name="TextBox 24"/>
          <p:cNvSpPr txBox="1"/>
          <p:nvPr/>
        </p:nvSpPr>
        <p:spPr>
          <a:xfrm>
            <a:off x="6210147" y="4818674"/>
            <a:ext cx="2533573" cy="238109"/>
          </a:xfrm>
          <a:prstGeom prst="rect">
            <a:avLst/>
          </a:prstGeom>
          <a:noFill/>
        </p:spPr>
        <p:txBody>
          <a:bodyPr wrap="square" lIns="0" rIns="0" tIns="0" bIns="0">
            <a:noAutofit/>
          </a:bodyPr>
          <a:lstStyle/>
          <a:p>
            <a:pPr algn="l">
              <a:lnSpc>
                <a:spcPct val="120000"/>
              </a:lnSpc>
            </a:pPr>
            <a:r>
              <a:rPr sz="1400" b="0" i="0">
                <a:solidFill>
                  <a:srgbClr val="2F5D50"/>
                </a:solidFill>
                <a:latin typeface="Calibri"/>
              </a:rPr>
              <a:t>5 weather stations</a:t>
            </a:r>
          </a:p>
        </p:txBody>
      </p:sp>
      <p:sp>
        <p:nvSpPr>
          <p:cNvPr id="26" name="TextBox 25"/>
          <p:cNvSpPr txBox="1"/>
          <p:nvPr/>
        </p:nvSpPr>
        <p:spPr>
          <a:xfrm>
            <a:off x="8972321" y="4818674"/>
            <a:ext cx="2533573" cy="238109"/>
          </a:xfrm>
          <a:prstGeom prst="rect">
            <a:avLst/>
          </a:prstGeom>
          <a:noFill/>
        </p:spPr>
        <p:txBody>
          <a:bodyPr wrap="square" lIns="0" rIns="0" tIns="0" bIns="0">
            <a:noAutofit/>
          </a:bodyPr>
          <a:lstStyle/>
          <a:p>
            <a:pPr algn="l">
              <a:lnSpc>
                <a:spcPct val="120000"/>
              </a:lnSpc>
            </a:pPr>
            <a:r>
              <a:rPr sz="1400" b="0" i="0">
                <a:solidFill>
                  <a:srgbClr val="2F5D50"/>
                </a:solidFill>
                <a:latin typeface="Calibri"/>
              </a:rPr>
              <a:t>Croft scavenging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layout:chart">
    <p:bg>
      <p:bgPr>
        <a:solidFill>
          <a:srgbClr val="F1EEE8"/>
        </a:solidFill>
        <a:effectLst/>
      </p:bgPr>
    </p:bg>
    <p:spTree>
      <p:nvGrpSpPr>
        <p:cNvPr id="1" name=""/>
        <p:cNvGrpSpPr/>
        <p:nvPr/>
      </p:nvGrpSpPr>
      <p:grpSpPr/>
      <p:sp>
        <p:nvSpPr>
          <p:cNvPr id="2" name="kit:eyebrow"/>
          <p:cNvSpPr txBox="1"/>
          <p:nvPr/>
        </p:nvSpPr>
        <p:spPr>
          <a:xfrm>
            <a:off x="685800" y="548640"/>
            <a:ext cx="10820095" cy="152400"/>
          </a:xfrm>
          <a:prstGeom prst="rect">
            <a:avLst/>
          </a:prstGeom>
          <a:noFill/>
        </p:spPr>
        <p:txBody>
          <a:bodyPr wrap="square" lIns="0" rIns="0" tIns="0" bIns="0">
            <a:noAutofit/>
          </a:bodyPr>
          <a:lstStyle/>
          <a:p>
            <a:pPr algn="l">
              <a:lnSpc>
                <a:spcPct val="100000"/>
              </a:lnSpc>
            </a:pPr>
            <a:r>
              <a:rPr sz="1200" b="1" i="0" spc="150">
                <a:solidFill>
                  <a:srgbClr val="5C5750"/>
                </a:solidFill>
                <a:latin typeface="Calibri"/>
              </a:rPr>
              <a:t>ATMOSPHERIC TRAPPING</a:t>
            </a:r>
          </a:p>
        </p:txBody>
      </p:sp>
      <p:sp>
        <p:nvSpPr>
          <p:cNvPr id="3" name="kit:title"/>
          <p:cNvSpPr txBox="1"/>
          <p:nvPr/>
        </p:nvSpPr>
        <p:spPr>
          <a:xfrm>
            <a:off x="685800" y="822960"/>
            <a:ext cx="10820095" cy="497433"/>
          </a:xfrm>
          <a:prstGeom prst="rect">
            <a:avLst/>
          </a:prstGeom>
          <a:noFill/>
        </p:spPr>
        <p:txBody>
          <a:bodyPr wrap="square" lIns="0" rIns="0" tIns="0" bIns="0">
            <a:noAutofit/>
          </a:bodyPr>
          <a:lstStyle/>
          <a:p>
            <a:pPr algn="l">
              <a:lnSpc>
                <a:spcPct val="105000"/>
              </a:lnSpc>
            </a:pPr>
            <a:r>
              <a:rPr sz="3200" b="0" i="0">
                <a:solidFill>
                  <a:srgbClr val="1E1D1B"/>
                </a:solidFill>
                <a:latin typeface="Georgia"/>
              </a:rPr>
              <a:t>Shallow boundary layers triple surface smoke</a:t>
            </a:r>
          </a:p>
        </p:txBody>
      </p:sp>
      <p:sp>
        <p:nvSpPr>
          <p:cNvPr id="4" name="kit:footer"/>
          <p:cNvSpPr txBox="1"/>
          <p:nvPr/>
        </p:nvSpPr>
        <p:spPr>
          <a:xfrm>
            <a:off x="685800" y="6355080"/>
            <a:ext cx="4572000" cy="157480"/>
          </a:xfrm>
          <a:prstGeom prst="rect">
            <a:avLst/>
          </a:prstGeom>
          <a:noFill/>
        </p:spPr>
        <p:txBody>
          <a:bodyPr wrap="square" lIns="0" rIns="0" tIns="0" bIns="0">
            <a:noAutofit/>
          </a:bodyPr>
          <a:lstStyle/>
          <a:p>
            <a:pPr algn="l">
              <a:lnSpc>
                <a:spcPct val="100000"/>
              </a:lnSpc>
            </a:pPr>
            <a:r>
              <a:rPr sz="1000" b="0" i="0">
                <a:solidFill>
                  <a:srgbClr val="5C5750"/>
                </a:solidFill>
                <a:latin typeface="Calibri"/>
              </a:rPr>
              <a:t>Smoke Horizon</a:t>
            </a:r>
          </a:p>
        </p:txBody>
      </p:sp>
      <p:sp>
        <p:nvSpPr>
          <p:cNvPr id="5" name="kit:footer:2"/>
          <p:cNvSpPr txBox="1"/>
          <p:nvPr/>
        </p:nvSpPr>
        <p:spPr>
          <a:xfrm>
            <a:off x="6210147" y="6355080"/>
            <a:ext cx="5295747" cy="157480"/>
          </a:xfrm>
          <a:prstGeom prst="rect">
            <a:avLst/>
          </a:prstGeom>
          <a:noFill/>
        </p:spPr>
        <p:txBody>
          <a:bodyPr wrap="square" lIns="0" rIns="0" tIns="0" bIns="0">
            <a:noAutofit/>
          </a:bodyPr>
          <a:lstStyle/>
          <a:p>
            <a:pPr algn="r">
              <a:lnSpc>
                <a:spcPct val="100000"/>
              </a:lnSpc>
            </a:pPr>
            <a:r>
              <a:rPr sz="1000" b="0" i="0">
                <a:solidFill>
                  <a:srgbClr val="5C5750"/>
                </a:solidFill>
                <a:latin typeface="Calibri"/>
              </a:rPr>
              <a:t>8</a:t>
            </a:r>
          </a:p>
        </p:txBody>
      </p:sp>
      <p:graphicFrame>
        <p:nvGraphicFramePr>
          <p:cNvPr id="6" name="Chart 5"/>
          <p:cNvGraphicFramePr>
            <a:graphicFrameLocks noGrp="1"/>
          </p:cNvGraphicFramePr>
          <p:nvPr/>
        </p:nvGraphicFramePr>
        <p:xfrm>
          <a:off x="685800" y="2057400"/>
          <a:ext cx="7137196" cy="3977639"/>
        </p:xfrm>
        <a:graphic>
          <a:graphicData uri="http://schemas.openxmlformats.org/drawingml/2006/chart">
            <c:chart xmlns:c="http://schemas.openxmlformats.org/drawingml/2006/chart" r:id="rId3"/>
          </a:graphicData>
        </a:graphic>
      </p:graphicFrame>
      <p:sp>
        <p:nvSpPr>
          <p:cNvPr id="7" name="TextBox 6"/>
          <p:cNvSpPr txBox="1"/>
          <p:nvPr/>
        </p:nvSpPr>
        <p:spPr>
          <a:xfrm>
            <a:off x="8051596" y="2530474"/>
            <a:ext cx="3454298" cy="3031490"/>
          </a:xfrm>
          <a:prstGeom prst="rect">
            <a:avLst/>
          </a:prstGeom>
          <a:noFill/>
        </p:spPr>
        <p:txBody>
          <a:bodyPr wrap="square" lIns="0" rIns="0" tIns="0" bIns="0">
            <a:noAutofit/>
          </a:bodyPr>
          <a:lstStyle/>
          <a:p>
            <a:pPr algn="l">
              <a:lnSpc>
                <a:spcPct val="125000"/>
              </a:lnSpc>
            </a:pPr>
            <a:r>
              <a:rPr sz="2200" b="0" i="0">
                <a:solidFill>
                  <a:srgbClr val="1E1D1B"/>
                </a:solidFill>
                <a:latin typeface="Calibri"/>
              </a:rPr>
              <a:t>Nocturnal temperature inversions compress smoke into a shallow layer, multiplying ground-level particulate concentrations threefold during Delhi winter nights.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layout:columns">
    <p:bg>
      <p:bgPr>
        <a:solidFill>
          <a:srgbClr val="F1EEE8"/>
        </a:solidFill>
        <a:effectLst/>
      </p:bgPr>
    </p:bg>
    <p:spTree>
      <p:nvGrpSpPr>
        <p:cNvPr id="1" name=""/>
        <p:cNvGrpSpPr/>
        <p:nvPr/>
      </p:nvGrpSpPr>
      <p:grpSpPr/>
      <p:sp>
        <p:nvSpPr>
          <p:cNvPr id="2" name="kit:eyebrow"/>
          <p:cNvSpPr txBox="1"/>
          <p:nvPr/>
        </p:nvSpPr>
        <p:spPr>
          <a:xfrm>
            <a:off x="685800" y="548640"/>
            <a:ext cx="10820095" cy="152400"/>
          </a:xfrm>
          <a:prstGeom prst="rect">
            <a:avLst/>
          </a:prstGeom>
          <a:noFill/>
        </p:spPr>
        <p:txBody>
          <a:bodyPr wrap="square" lIns="0" rIns="0" tIns="0" bIns="0">
            <a:noAutofit/>
          </a:bodyPr>
          <a:lstStyle/>
          <a:p>
            <a:pPr algn="l">
              <a:lnSpc>
                <a:spcPct val="100000"/>
              </a:lnSpc>
            </a:pPr>
            <a:r>
              <a:rPr sz="1200" b="1" i="0" spc="150">
                <a:solidFill>
                  <a:srgbClr val="5C5750"/>
                </a:solidFill>
                <a:latin typeface="Calibri"/>
              </a:rPr>
              <a:t>PUBLIC HEALTH</a:t>
            </a:r>
          </a:p>
        </p:txBody>
      </p:sp>
      <p:sp>
        <p:nvSpPr>
          <p:cNvPr id="3" name="kit:title"/>
          <p:cNvSpPr txBox="1"/>
          <p:nvPr/>
        </p:nvSpPr>
        <p:spPr>
          <a:xfrm>
            <a:off x="685800" y="822960"/>
            <a:ext cx="10820095" cy="497433"/>
          </a:xfrm>
          <a:prstGeom prst="rect">
            <a:avLst/>
          </a:prstGeom>
          <a:noFill/>
        </p:spPr>
        <p:txBody>
          <a:bodyPr wrap="square" lIns="0" rIns="0" tIns="0" bIns="0">
            <a:noAutofit/>
          </a:bodyPr>
          <a:lstStyle/>
          <a:p>
            <a:pPr algn="l">
              <a:lnSpc>
                <a:spcPct val="105000"/>
              </a:lnSpc>
            </a:pPr>
            <a:r>
              <a:rPr sz="3200" b="0" i="0">
                <a:solidFill>
                  <a:srgbClr val="1E1D1B"/>
                </a:solidFill>
                <a:latin typeface="Georgia"/>
              </a:rPr>
              <a:t>Vulnerability weights scale personal health risk</a:t>
            </a:r>
          </a:p>
        </p:txBody>
      </p:sp>
      <p:sp>
        <p:nvSpPr>
          <p:cNvPr id="4" name="kit:footer"/>
          <p:cNvSpPr txBox="1"/>
          <p:nvPr/>
        </p:nvSpPr>
        <p:spPr>
          <a:xfrm>
            <a:off x="685800" y="6355080"/>
            <a:ext cx="4572000" cy="157480"/>
          </a:xfrm>
          <a:prstGeom prst="rect">
            <a:avLst/>
          </a:prstGeom>
          <a:noFill/>
        </p:spPr>
        <p:txBody>
          <a:bodyPr wrap="square" lIns="0" rIns="0" tIns="0" bIns="0">
            <a:noAutofit/>
          </a:bodyPr>
          <a:lstStyle/>
          <a:p>
            <a:pPr algn="l">
              <a:lnSpc>
                <a:spcPct val="100000"/>
              </a:lnSpc>
            </a:pPr>
            <a:r>
              <a:rPr sz="1000" b="0" i="0">
                <a:solidFill>
                  <a:srgbClr val="5C5750"/>
                </a:solidFill>
                <a:latin typeface="Calibri"/>
              </a:rPr>
              <a:t>Smoke Horizon</a:t>
            </a:r>
          </a:p>
        </p:txBody>
      </p:sp>
      <p:sp>
        <p:nvSpPr>
          <p:cNvPr id="5" name="kit:footer:2"/>
          <p:cNvSpPr txBox="1"/>
          <p:nvPr/>
        </p:nvSpPr>
        <p:spPr>
          <a:xfrm>
            <a:off x="6210147" y="6355080"/>
            <a:ext cx="5295747" cy="157480"/>
          </a:xfrm>
          <a:prstGeom prst="rect">
            <a:avLst/>
          </a:prstGeom>
          <a:noFill/>
        </p:spPr>
        <p:txBody>
          <a:bodyPr wrap="square" lIns="0" rIns="0" tIns="0" bIns="0">
            <a:noAutofit/>
          </a:bodyPr>
          <a:lstStyle/>
          <a:p>
            <a:pPr algn="r">
              <a:lnSpc>
                <a:spcPct val="100000"/>
              </a:lnSpc>
            </a:pPr>
            <a:r>
              <a:rPr sz="1000" b="0" i="0">
                <a:solidFill>
                  <a:srgbClr val="5C5750"/>
                </a:solidFill>
                <a:latin typeface="Calibri"/>
              </a:rPr>
              <a:t>9</a:t>
            </a:r>
          </a:p>
        </p:txBody>
      </p:sp>
      <p:cxnSp>
        <p:nvCxnSpPr>
          <p:cNvPr id="6" name="kit:hairline"/>
          <p:cNvCxnSpPr/>
          <p:nvPr/>
        </p:nvCxnSpPr>
        <p:spPr>
          <a:xfrm>
            <a:off x="685800" y="2663082"/>
            <a:ext cx="3454298" cy="0"/>
          </a:xfrm>
          <a:prstGeom prst="line">
            <a:avLst/>
          </a:prstGeom>
          <a:ln w="9525">
            <a:solidFill>
              <a:srgbClr val="CBC5BA"/>
            </a:solidFill>
          </a:ln>
        </p:spPr>
      </p:cxnSp>
      <p:cxnSp>
        <p:nvCxnSpPr>
          <p:cNvPr id="7" name="kit:hairline:2"/>
          <p:cNvCxnSpPr/>
          <p:nvPr/>
        </p:nvCxnSpPr>
        <p:spPr>
          <a:xfrm>
            <a:off x="4368698" y="2663082"/>
            <a:ext cx="3454298" cy="0"/>
          </a:xfrm>
          <a:prstGeom prst="line">
            <a:avLst/>
          </a:prstGeom>
          <a:ln w="9525">
            <a:solidFill>
              <a:srgbClr val="CBC5BA"/>
            </a:solidFill>
          </a:ln>
        </p:spPr>
      </p:cxnSp>
      <p:cxnSp>
        <p:nvCxnSpPr>
          <p:cNvPr id="8" name="kit:hairline:3"/>
          <p:cNvCxnSpPr/>
          <p:nvPr/>
        </p:nvCxnSpPr>
        <p:spPr>
          <a:xfrm>
            <a:off x="8051596" y="2663082"/>
            <a:ext cx="3454299" cy="0"/>
          </a:xfrm>
          <a:prstGeom prst="line">
            <a:avLst/>
          </a:prstGeom>
          <a:ln w="9525">
            <a:solidFill>
              <a:srgbClr val="CBC5BA"/>
            </a:solidFill>
          </a:ln>
        </p:spPr>
      </p:cxnSp>
      <p:sp>
        <p:nvSpPr>
          <p:cNvPr id="9" name="TextBox 8"/>
          <p:cNvSpPr txBox="1"/>
          <p:nvPr/>
        </p:nvSpPr>
        <p:spPr>
          <a:xfrm>
            <a:off x="685800" y="2891682"/>
            <a:ext cx="3454298" cy="152400"/>
          </a:xfrm>
          <a:prstGeom prst="rect">
            <a:avLst/>
          </a:prstGeom>
          <a:noFill/>
        </p:spPr>
        <p:txBody>
          <a:bodyPr wrap="square" lIns="0" rIns="0" tIns="0" bIns="0">
            <a:noAutofit/>
          </a:bodyPr>
          <a:lstStyle/>
          <a:p>
            <a:pPr algn="l">
              <a:lnSpc>
                <a:spcPct val="100000"/>
              </a:lnSpc>
            </a:pPr>
            <a:r>
              <a:rPr sz="1200" b="1" i="0" spc="150">
                <a:solidFill>
                  <a:srgbClr val="2F5D50"/>
                </a:solidFill>
                <a:latin typeface="Calibri"/>
              </a:rPr>
              <a:t>PEDIATRIC &amp; ELDERLY</a:t>
            </a:r>
          </a:p>
        </p:txBody>
      </p:sp>
      <p:sp>
        <p:nvSpPr>
          <p:cNvPr id="10" name="TextBox 9"/>
          <p:cNvSpPr txBox="1"/>
          <p:nvPr/>
        </p:nvSpPr>
        <p:spPr>
          <a:xfrm>
            <a:off x="4368698" y="2891682"/>
            <a:ext cx="3454298" cy="152400"/>
          </a:xfrm>
          <a:prstGeom prst="rect">
            <a:avLst/>
          </a:prstGeom>
          <a:noFill/>
        </p:spPr>
        <p:txBody>
          <a:bodyPr wrap="square" lIns="0" rIns="0" tIns="0" bIns="0">
            <a:noAutofit/>
          </a:bodyPr>
          <a:lstStyle/>
          <a:p>
            <a:pPr algn="l">
              <a:lnSpc>
                <a:spcPct val="100000"/>
              </a:lnSpc>
            </a:pPr>
            <a:r>
              <a:rPr sz="1200" b="1" i="0" spc="150">
                <a:solidFill>
                  <a:srgbClr val="2F5D50"/>
                </a:solidFill>
                <a:latin typeface="Calibri"/>
              </a:rPr>
              <a:t>RESPIRATORY CASES</a:t>
            </a:r>
          </a:p>
        </p:txBody>
      </p:sp>
      <p:sp>
        <p:nvSpPr>
          <p:cNvPr id="11" name="TextBox 10"/>
          <p:cNvSpPr txBox="1"/>
          <p:nvPr/>
        </p:nvSpPr>
        <p:spPr>
          <a:xfrm>
            <a:off x="8051596" y="2891682"/>
            <a:ext cx="3454298" cy="152400"/>
          </a:xfrm>
          <a:prstGeom prst="rect">
            <a:avLst/>
          </a:prstGeom>
          <a:noFill/>
        </p:spPr>
        <p:txBody>
          <a:bodyPr wrap="square" lIns="0" rIns="0" tIns="0" bIns="0">
            <a:noAutofit/>
          </a:bodyPr>
          <a:lstStyle/>
          <a:p>
            <a:pPr algn="l">
              <a:lnSpc>
                <a:spcPct val="100000"/>
              </a:lnSpc>
            </a:pPr>
            <a:r>
              <a:rPr sz="1200" b="1" i="0" spc="150">
                <a:solidFill>
                  <a:srgbClr val="2F5D50"/>
                </a:solidFill>
                <a:latin typeface="Calibri"/>
              </a:rPr>
              <a:t>NOTIFICATION SYSTEM</a:t>
            </a:r>
          </a:p>
        </p:txBody>
      </p:sp>
      <p:sp>
        <p:nvSpPr>
          <p:cNvPr id="12" name="TextBox 11"/>
          <p:cNvSpPr txBox="1"/>
          <p:nvPr/>
        </p:nvSpPr>
        <p:spPr>
          <a:xfrm>
            <a:off x="685800" y="3158382"/>
            <a:ext cx="3454298" cy="670560"/>
          </a:xfrm>
          <a:prstGeom prst="rect">
            <a:avLst/>
          </a:prstGeom>
          <a:noFill/>
        </p:spPr>
        <p:txBody>
          <a:bodyPr wrap="square" lIns="0" rIns="0" tIns="0" bIns="0">
            <a:noAutofit/>
          </a:bodyPr>
          <a:lstStyle/>
          <a:p>
            <a:pPr algn="l">
              <a:lnSpc>
                <a:spcPct val="100000"/>
              </a:lnSpc>
            </a:pPr>
            <a:r>
              <a:rPr sz="4400" b="0" i="0">
                <a:solidFill>
                  <a:srgbClr val="1E1D1B"/>
                </a:solidFill>
                <a:latin typeface="Georgia"/>
              </a:rPr>
              <a:t>1.55x</a:t>
            </a:r>
          </a:p>
        </p:txBody>
      </p:sp>
      <p:sp>
        <p:nvSpPr>
          <p:cNvPr id="13" name="TextBox 12"/>
          <p:cNvSpPr txBox="1"/>
          <p:nvPr/>
        </p:nvSpPr>
        <p:spPr>
          <a:xfrm>
            <a:off x="4368698" y="3158382"/>
            <a:ext cx="3454298" cy="670560"/>
          </a:xfrm>
          <a:prstGeom prst="rect">
            <a:avLst/>
          </a:prstGeom>
          <a:noFill/>
        </p:spPr>
        <p:txBody>
          <a:bodyPr wrap="square" lIns="0" rIns="0" tIns="0" bIns="0">
            <a:noAutofit/>
          </a:bodyPr>
          <a:lstStyle/>
          <a:p>
            <a:pPr algn="l">
              <a:lnSpc>
                <a:spcPct val="100000"/>
              </a:lnSpc>
            </a:pPr>
            <a:r>
              <a:rPr sz="4400" b="0" i="0">
                <a:solidFill>
                  <a:srgbClr val="1E1D1B"/>
                </a:solidFill>
                <a:latin typeface="Georgia"/>
              </a:rPr>
              <a:t>1.80x</a:t>
            </a:r>
          </a:p>
        </p:txBody>
      </p:sp>
      <p:sp>
        <p:nvSpPr>
          <p:cNvPr id="14" name="TextBox 13"/>
          <p:cNvSpPr txBox="1"/>
          <p:nvPr/>
        </p:nvSpPr>
        <p:spPr>
          <a:xfrm>
            <a:off x="8051596" y="3158382"/>
            <a:ext cx="3454298" cy="670560"/>
          </a:xfrm>
          <a:prstGeom prst="rect">
            <a:avLst/>
          </a:prstGeom>
          <a:noFill/>
        </p:spPr>
        <p:txBody>
          <a:bodyPr wrap="square" lIns="0" rIns="0" tIns="0" bIns="0">
            <a:noAutofit/>
          </a:bodyPr>
          <a:lstStyle/>
          <a:p>
            <a:pPr algn="l">
              <a:lnSpc>
                <a:spcPct val="100000"/>
              </a:lnSpc>
            </a:pPr>
            <a:r>
              <a:rPr sz="4400" b="0" i="0">
                <a:solidFill>
                  <a:srgbClr val="1E1D1B"/>
                </a:solidFill>
                <a:latin typeface="Georgia"/>
              </a:rPr>
              <a:t>12 h</a:t>
            </a:r>
          </a:p>
        </p:txBody>
      </p:sp>
      <p:sp>
        <p:nvSpPr>
          <p:cNvPr id="15" name="TextBox 14"/>
          <p:cNvSpPr txBox="1"/>
          <p:nvPr/>
        </p:nvSpPr>
        <p:spPr>
          <a:xfrm>
            <a:off x="685800" y="3943242"/>
            <a:ext cx="3454298" cy="360314"/>
          </a:xfrm>
          <a:prstGeom prst="rect">
            <a:avLst/>
          </a:prstGeom>
          <a:noFill/>
        </p:spPr>
        <p:txBody>
          <a:bodyPr wrap="square" lIns="0" rIns="0" tIns="0" bIns="0">
            <a:noAutofit/>
          </a:bodyPr>
          <a:lstStyle/>
          <a:p>
            <a:pPr algn="l">
              <a:lnSpc>
                <a:spcPct val="110000"/>
              </a:lnSpc>
            </a:pPr>
            <a:r>
              <a:rPr sz="2200" b="1" i="0">
                <a:solidFill>
                  <a:srgbClr val="1E1D1B"/>
                </a:solidFill>
                <a:latin typeface="Calibri"/>
              </a:rPr>
              <a:t>Sensitive ages</a:t>
            </a:r>
          </a:p>
        </p:txBody>
      </p:sp>
      <p:sp>
        <p:nvSpPr>
          <p:cNvPr id="16" name="TextBox 15"/>
          <p:cNvSpPr txBox="1"/>
          <p:nvPr/>
        </p:nvSpPr>
        <p:spPr>
          <a:xfrm>
            <a:off x="4368698" y="3943242"/>
            <a:ext cx="3454298" cy="360314"/>
          </a:xfrm>
          <a:prstGeom prst="rect">
            <a:avLst/>
          </a:prstGeom>
          <a:noFill/>
        </p:spPr>
        <p:txBody>
          <a:bodyPr wrap="square" lIns="0" rIns="0" tIns="0" bIns="0">
            <a:noAutofit/>
          </a:bodyPr>
          <a:lstStyle/>
          <a:p>
            <a:pPr algn="l">
              <a:lnSpc>
                <a:spcPct val="110000"/>
              </a:lnSpc>
            </a:pPr>
            <a:r>
              <a:rPr sz="2200" b="1" i="0">
                <a:solidFill>
                  <a:srgbClr val="1E1D1B"/>
                </a:solidFill>
                <a:latin typeface="Calibri"/>
              </a:rPr>
              <a:t>Asthma and COPD</a:t>
            </a:r>
          </a:p>
        </p:txBody>
      </p:sp>
      <p:sp>
        <p:nvSpPr>
          <p:cNvPr id="17" name="TextBox 16"/>
          <p:cNvSpPr txBox="1"/>
          <p:nvPr/>
        </p:nvSpPr>
        <p:spPr>
          <a:xfrm>
            <a:off x="8051596" y="3943242"/>
            <a:ext cx="3454298" cy="360314"/>
          </a:xfrm>
          <a:prstGeom prst="rect">
            <a:avLst/>
          </a:prstGeom>
          <a:noFill/>
        </p:spPr>
        <p:txBody>
          <a:bodyPr wrap="square" lIns="0" rIns="0" tIns="0" bIns="0">
            <a:noAutofit/>
          </a:bodyPr>
          <a:lstStyle/>
          <a:p>
            <a:pPr algn="l">
              <a:lnSpc>
                <a:spcPct val="110000"/>
              </a:lnSpc>
            </a:pPr>
            <a:r>
              <a:rPr sz="2200" b="1" i="0">
                <a:solidFill>
                  <a:srgbClr val="1E1D1B"/>
                </a:solidFill>
                <a:latin typeface="Calibri"/>
              </a:rPr>
              <a:t>Alert cooldown</a:t>
            </a:r>
          </a:p>
        </p:txBody>
      </p:sp>
      <p:sp>
        <p:nvSpPr>
          <p:cNvPr id="18" name="TextBox 17"/>
          <p:cNvSpPr txBox="1"/>
          <p:nvPr/>
        </p:nvSpPr>
        <p:spPr>
          <a:xfrm>
            <a:off x="685800" y="4417856"/>
            <a:ext cx="3454298" cy="708659"/>
          </a:xfrm>
          <a:prstGeom prst="rect">
            <a:avLst/>
          </a:prstGeom>
          <a:noFill/>
        </p:spPr>
        <p:txBody>
          <a:bodyPr wrap="square" lIns="0" rIns="0" tIns="0" bIns="0">
            <a:noAutofit/>
          </a:bodyPr>
          <a:lstStyle/>
          <a:p>
            <a:pPr algn="l">
              <a:lnSpc>
                <a:spcPct val="125000"/>
              </a:lnSpc>
            </a:pPr>
            <a:r>
              <a:rPr sz="1800" b="0" i="0">
                <a:solidFill>
                  <a:srgbClr val="1E1D1B"/>
                </a:solidFill>
                <a:latin typeface="Calibri"/>
              </a:rPr>
              <a:t>Faster ventilation rates per weight increase total inhaled smoke dose.</a:t>
            </a:r>
          </a:p>
        </p:txBody>
      </p:sp>
      <p:sp>
        <p:nvSpPr>
          <p:cNvPr id="19" name="TextBox 18"/>
          <p:cNvSpPr txBox="1"/>
          <p:nvPr/>
        </p:nvSpPr>
        <p:spPr>
          <a:xfrm>
            <a:off x="4368698" y="4417856"/>
            <a:ext cx="3454298" cy="708659"/>
          </a:xfrm>
          <a:prstGeom prst="rect">
            <a:avLst/>
          </a:prstGeom>
          <a:noFill/>
        </p:spPr>
        <p:txBody>
          <a:bodyPr wrap="square" lIns="0" rIns="0" tIns="0" bIns="0">
            <a:noAutofit/>
          </a:bodyPr>
          <a:lstStyle/>
          <a:p>
            <a:pPr algn="l">
              <a:lnSpc>
                <a:spcPct val="125000"/>
              </a:lnSpc>
            </a:pPr>
            <a:r>
              <a:rPr sz="1800" b="0" i="0">
                <a:solidFill>
                  <a:srgbClr val="1E1D1B"/>
                </a:solidFill>
                <a:latin typeface="Calibri"/>
              </a:rPr>
              <a:t>Lower exposure thresholds trigger earlier medical health warnings.</a:t>
            </a:r>
          </a:p>
        </p:txBody>
      </p:sp>
      <p:sp>
        <p:nvSpPr>
          <p:cNvPr id="20" name="TextBox 19"/>
          <p:cNvSpPr txBox="1"/>
          <p:nvPr/>
        </p:nvSpPr>
        <p:spPr>
          <a:xfrm>
            <a:off x="8051596" y="4417856"/>
            <a:ext cx="3454298" cy="708659"/>
          </a:xfrm>
          <a:prstGeom prst="rect">
            <a:avLst/>
          </a:prstGeom>
          <a:noFill/>
        </p:spPr>
        <p:txBody>
          <a:bodyPr wrap="square" lIns="0" rIns="0" tIns="0" bIns="0">
            <a:noAutofit/>
          </a:bodyPr>
          <a:lstStyle/>
          <a:p>
            <a:pPr algn="l">
              <a:lnSpc>
                <a:spcPct val="125000"/>
              </a:lnSpc>
            </a:pPr>
            <a:r>
              <a:rPr sz="1800" b="0" i="0">
                <a:solidFill>
                  <a:srgbClr val="1E1D1B"/>
                </a:solidFill>
                <a:latin typeface="Calibri"/>
              </a:rPr>
              <a:t>Twilio SMS prevents alert fatigue while tracking diurnal peaks.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layout:statement">
    <p:bg>
      <p:bgPr>
        <a:solidFill>
          <a:srgbClr val="1F2523"/>
        </a:solidFill>
        <a:effectLst/>
      </p:bgPr>
    </p:bg>
    <p:spTree>
      <p:nvGrpSpPr>
        <p:cNvPr id="1" name=""/>
        <p:cNvGrpSpPr/>
        <p:nvPr/>
      </p:nvGrpSpPr>
      <p:grpSpPr/>
      <p:sp>
        <p:nvSpPr>
          <p:cNvPr id="2" name="kit:eyebrow"/>
          <p:cNvSpPr txBox="1"/>
          <p:nvPr/>
        </p:nvSpPr>
        <p:spPr>
          <a:xfrm>
            <a:off x="685800" y="1576395"/>
            <a:ext cx="8978646" cy="152400"/>
          </a:xfrm>
          <a:prstGeom prst="rect">
            <a:avLst/>
          </a:prstGeom>
          <a:noFill/>
        </p:spPr>
        <p:txBody>
          <a:bodyPr wrap="square" lIns="0" rIns="0" tIns="0" bIns="0">
            <a:noAutofit/>
          </a:bodyPr>
          <a:lstStyle/>
          <a:p>
            <a:pPr algn="l">
              <a:lnSpc>
                <a:spcPct val="100000"/>
              </a:lnSpc>
            </a:pPr>
            <a:r>
              <a:rPr sz="1200" b="1" i="0" spc="150">
                <a:solidFill>
                  <a:srgbClr val="8FB8A6"/>
                </a:solidFill>
                <a:latin typeface="Calibri"/>
              </a:rPr>
              <a:t>ENGINEERING TRADE-OFFS</a:t>
            </a:r>
          </a:p>
        </p:txBody>
      </p:sp>
      <p:sp>
        <p:nvSpPr>
          <p:cNvPr id="3" name="kit:title"/>
          <p:cNvSpPr txBox="1"/>
          <p:nvPr/>
        </p:nvSpPr>
        <p:spPr>
          <a:xfrm>
            <a:off x="685800" y="1957395"/>
            <a:ext cx="8978646" cy="2743200"/>
          </a:xfrm>
          <a:prstGeom prst="rect">
            <a:avLst/>
          </a:prstGeom>
          <a:noFill/>
        </p:spPr>
        <p:txBody>
          <a:bodyPr wrap="square" lIns="0" rIns="0" tIns="0" bIns="0">
            <a:noAutofit/>
          </a:bodyPr>
          <a:lstStyle/>
          <a:p>
            <a:pPr algn="l">
              <a:lnSpc>
                <a:spcPct val="100000"/>
              </a:lnSpc>
            </a:pPr>
            <a:r>
              <a:rPr sz="6000" b="0" i="0">
                <a:solidFill>
                  <a:srgbClr val="F1EEE8"/>
                </a:solidFill>
                <a:latin typeface="Georgia"/>
              </a:rPr>
              <a:t>Real-time warning requires </a:t>
            </a:r>
            <a:r>
              <a:rPr sz="6000" b="0" i="1">
                <a:solidFill>
                  <a:srgbClr val="F1EEE8"/>
                </a:solidFill>
                <a:latin typeface="Georgia"/>
              </a:rPr>
              <a:t>disciplined modeling</a:t>
            </a:r>
            <a:r>
              <a:rPr sz="6000" b="0" i="0">
                <a:solidFill>
                  <a:srgbClr val="F1EEE8"/>
                </a:solidFill>
                <a:latin typeface="Georgia"/>
              </a:rPr>
              <a:t> choices</a:t>
            </a:r>
          </a:p>
        </p:txBody>
      </p:sp>
      <p:sp>
        <p:nvSpPr>
          <p:cNvPr id="4" name="TextBox 3"/>
          <p:cNvSpPr txBox="1"/>
          <p:nvPr/>
        </p:nvSpPr>
        <p:spPr>
          <a:xfrm>
            <a:off x="685800" y="5043495"/>
            <a:ext cx="8978646" cy="238109"/>
          </a:xfrm>
          <a:prstGeom prst="rect">
            <a:avLst/>
          </a:prstGeom>
          <a:noFill/>
        </p:spPr>
        <p:txBody>
          <a:bodyPr wrap="square" lIns="0" rIns="0" tIns="0" bIns="0">
            <a:noAutofit/>
          </a:bodyPr>
          <a:lstStyle/>
          <a:p>
            <a:pPr algn="l">
              <a:lnSpc>
                <a:spcPct val="120000"/>
              </a:lnSpc>
            </a:pPr>
            <a:r>
              <a:rPr sz="1400" b="0" i="0">
                <a:solidFill>
                  <a:srgbClr val="A9B0AA"/>
                </a:solidFill>
                <a:latin typeface="Calibri"/>
              </a:rPr>
              <a:t>Smoke Horizon Architecture Decision Record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layout:metrics">
    <p:bg>
      <p:bgPr>
        <a:solidFill>
          <a:srgbClr val="F1EEE8"/>
        </a:solidFill>
        <a:effectLst/>
      </p:bgPr>
    </p:bg>
    <p:spTree>
      <p:nvGrpSpPr>
        <p:cNvPr id="1" name=""/>
        <p:cNvGrpSpPr/>
        <p:nvPr/>
      </p:nvGrpSpPr>
      <p:grpSpPr/>
      <p:sp>
        <p:nvSpPr>
          <p:cNvPr id="2" name="kit:eyebrow"/>
          <p:cNvSpPr txBox="1"/>
          <p:nvPr/>
        </p:nvSpPr>
        <p:spPr>
          <a:xfrm>
            <a:off x="685800" y="548640"/>
            <a:ext cx="10820095" cy="152400"/>
          </a:xfrm>
          <a:prstGeom prst="rect">
            <a:avLst/>
          </a:prstGeom>
          <a:noFill/>
        </p:spPr>
        <p:txBody>
          <a:bodyPr wrap="square" lIns="0" rIns="0" tIns="0" bIns="0">
            <a:noAutofit/>
          </a:bodyPr>
          <a:lstStyle/>
          <a:p>
            <a:pPr algn="l">
              <a:lnSpc>
                <a:spcPct val="100000"/>
              </a:lnSpc>
            </a:pPr>
            <a:r>
              <a:rPr sz="1200" b="1" i="0" spc="150">
                <a:solidFill>
                  <a:srgbClr val="5C5750"/>
                </a:solidFill>
                <a:latin typeface="Calibri"/>
              </a:rPr>
              <a:t>PERFORMANCE</a:t>
            </a:r>
          </a:p>
        </p:txBody>
      </p:sp>
      <p:sp>
        <p:nvSpPr>
          <p:cNvPr id="3" name="kit:title"/>
          <p:cNvSpPr txBox="1"/>
          <p:nvPr/>
        </p:nvSpPr>
        <p:spPr>
          <a:xfrm>
            <a:off x="685800" y="822960"/>
            <a:ext cx="10820095" cy="497433"/>
          </a:xfrm>
          <a:prstGeom prst="rect">
            <a:avLst/>
          </a:prstGeom>
          <a:noFill/>
        </p:spPr>
        <p:txBody>
          <a:bodyPr wrap="square" lIns="0" rIns="0" tIns="0" bIns="0">
            <a:noAutofit/>
          </a:bodyPr>
          <a:lstStyle/>
          <a:p>
            <a:pPr algn="l">
              <a:lnSpc>
                <a:spcPct val="105000"/>
              </a:lnSpc>
            </a:pPr>
            <a:r>
              <a:rPr sz="3200" b="0" i="0">
                <a:solidFill>
                  <a:srgbClr val="1E1D1B"/>
                </a:solidFill>
                <a:latin typeface="Georgia"/>
              </a:rPr>
              <a:t>Sub-second runtimes keep forecasts interactive</a:t>
            </a:r>
          </a:p>
        </p:txBody>
      </p:sp>
      <p:sp>
        <p:nvSpPr>
          <p:cNvPr id="4" name="kit:footer"/>
          <p:cNvSpPr txBox="1"/>
          <p:nvPr/>
        </p:nvSpPr>
        <p:spPr>
          <a:xfrm>
            <a:off x="685800" y="6355080"/>
            <a:ext cx="4572000" cy="157480"/>
          </a:xfrm>
          <a:prstGeom prst="rect">
            <a:avLst/>
          </a:prstGeom>
          <a:noFill/>
        </p:spPr>
        <p:txBody>
          <a:bodyPr wrap="square" lIns="0" rIns="0" tIns="0" bIns="0">
            <a:noAutofit/>
          </a:bodyPr>
          <a:lstStyle/>
          <a:p>
            <a:pPr algn="l">
              <a:lnSpc>
                <a:spcPct val="100000"/>
              </a:lnSpc>
            </a:pPr>
            <a:r>
              <a:rPr sz="1000" b="0" i="0">
                <a:solidFill>
                  <a:srgbClr val="5C5750"/>
                </a:solidFill>
                <a:latin typeface="Calibri"/>
              </a:rPr>
              <a:t>Smoke Horizon</a:t>
            </a:r>
          </a:p>
        </p:txBody>
      </p:sp>
      <p:sp>
        <p:nvSpPr>
          <p:cNvPr id="5" name="kit:footer:2"/>
          <p:cNvSpPr txBox="1"/>
          <p:nvPr/>
        </p:nvSpPr>
        <p:spPr>
          <a:xfrm>
            <a:off x="6210147" y="6355080"/>
            <a:ext cx="5295747" cy="157480"/>
          </a:xfrm>
          <a:prstGeom prst="rect">
            <a:avLst/>
          </a:prstGeom>
          <a:noFill/>
        </p:spPr>
        <p:txBody>
          <a:bodyPr wrap="square" lIns="0" rIns="0" tIns="0" bIns="0">
            <a:noAutofit/>
          </a:bodyPr>
          <a:lstStyle/>
          <a:p>
            <a:pPr algn="r">
              <a:lnSpc>
                <a:spcPct val="100000"/>
              </a:lnSpc>
            </a:pPr>
            <a:r>
              <a:rPr sz="1000" b="0" i="0">
                <a:solidFill>
                  <a:srgbClr val="5C5750"/>
                </a:solidFill>
                <a:latin typeface="Calibri"/>
              </a:rPr>
              <a:t>11</a:t>
            </a:r>
          </a:p>
        </p:txBody>
      </p:sp>
      <p:cxnSp>
        <p:nvCxnSpPr>
          <p:cNvPr id="6" name="kit:hairline"/>
          <p:cNvCxnSpPr/>
          <p:nvPr/>
        </p:nvCxnSpPr>
        <p:spPr>
          <a:xfrm>
            <a:off x="685800" y="2378561"/>
            <a:ext cx="3454298" cy="0"/>
          </a:xfrm>
          <a:prstGeom prst="line">
            <a:avLst/>
          </a:prstGeom>
          <a:ln w="9525">
            <a:solidFill>
              <a:srgbClr val="CBC5BA"/>
            </a:solidFill>
          </a:ln>
        </p:spPr>
      </p:cxnSp>
      <p:cxnSp>
        <p:nvCxnSpPr>
          <p:cNvPr id="7" name="kit:hairline:2"/>
          <p:cNvCxnSpPr/>
          <p:nvPr/>
        </p:nvCxnSpPr>
        <p:spPr>
          <a:xfrm>
            <a:off x="4368698" y="2378561"/>
            <a:ext cx="3454298" cy="0"/>
          </a:xfrm>
          <a:prstGeom prst="line">
            <a:avLst/>
          </a:prstGeom>
          <a:ln w="9525">
            <a:solidFill>
              <a:srgbClr val="CBC5BA"/>
            </a:solidFill>
          </a:ln>
        </p:spPr>
      </p:cxnSp>
      <p:cxnSp>
        <p:nvCxnSpPr>
          <p:cNvPr id="8" name="kit:hairline:3"/>
          <p:cNvCxnSpPr/>
          <p:nvPr/>
        </p:nvCxnSpPr>
        <p:spPr>
          <a:xfrm>
            <a:off x="8051596" y="2378561"/>
            <a:ext cx="3454299" cy="0"/>
          </a:xfrm>
          <a:prstGeom prst="line">
            <a:avLst/>
          </a:prstGeom>
          <a:ln w="9525">
            <a:solidFill>
              <a:srgbClr val="CBC5BA"/>
            </a:solidFill>
          </a:ln>
        </p:spPr>
      </p:cxnSp>
      <p:sp>
        <p:nvSpPr>
          <p:cNvPr id="9" name="TextBox 8"/>
          <p:cNvSpPr txBox="1"/>
          <p:nvPr/>
        </p:nvSpPr>
        <p:spPr>
          <a:xfrm>
            <a:off x="685800" y="2607161"/>
            <a:ext cx="3454298" cy="670560"/>
          </a:xfrm>
          <a:prstGeom prst="rect">
            <a:avLst/>
          </a:prstGeom>
          <a:noFill/>
        </p:spPr>
        <p:txBody>
          <a:bodyPr wrap="square" lIns="0" rIns="0" tIns="0" bIns="0">
            <a:noAutofit/>
          </a:bodyPr>
          <a:lstStyle/>
          <a:p>
            <a:pPr algn="l">
              <a:lnSpc>
                <a:spcPct val="100000"/>
              </a:lnSpc>
            </a:pPr>
            <a:r>
              <a:rPr sz="4400" b="0" i="0">
                <a:solidFill>
                  <a:srgbClr val="2F5D50"/>
                </a:solidFill>
                <a:latin typeface="Georgia"/>
              </a:rPr>
              <a:t>48 h</a:t>
            </a:r>
          </a:p>
        </p:txBody>
      </p:sp>
      <p:sp>
        <p:nvSpPr>
          <p:cNvPr id="10" name="TextBox 9"/>
          <p:cNvSpPr txBox="1"/>
          <p:nvPr/>
        </p:nvSpPr>
        <p:spPr>
          <a:xfrm>
            <a:off x="4368698" y="2607161"/>
            <a:ext cx="3454298" cy="670560"/>
          </a:xfrm>
          <a:prstGeom prst="rect">
            <a:avLst/>
          </a:prstGeom>
          <a:noFill/>
        </p:spPr>
        <p:txBody>
          <a:bodyPr wrap="square" lIns="0" rIns="0" tIns="0" bIns="0">
            <a:noAutofit/>
          </a:bodyPr>
          <a:lstStyle/>
          <a:p>
            <a:pPr algn="l">
              <a:lnSpc>
                <a:spcPct val="100000"/>
              </a:lnSpc>
            </a:pPr>
            <a:r>
              <a:rPr sz="4400" b="0" i="0">
                <a:solidFill>
                  <a:srgbClr val="1E1D1B"/>
                </a:solidFill>
                <a:latin typeface="Georgia"/>
              </a:rPr>
              <a:t>&lt;1 s</a:t>
            </a:r>
          </a:p>
        </p:txBody>
      </p:sp>
      <p:sp>
        <p:nvSpPr>
          <p:cNvPr id="11" name="TextBox 10"/>
          <p:cNvSpPr txBox="1"/>
          <p:nvPr/>
        </p:nvSpPr>
        <p:spPr>
          <a:xfrm>
            <a:off x="8051596" y="2607161"/>
            <a:ext cx="3454298" cy="670560"/>
          </a:xfrm>
          <a:prstGeom prst="rect">
            <a:avLst/>
          </a:prstGeom>
          <a:noFill/>
        </p:spPr>
        <p:txBody>
          <a:bodyPr wrap="square" lIns="0" rIns="0" tIns="0" bIns="0">
            <a:noAutofit/>
          </a:bodyPr>
          <a:lstStyle/>
          <a:p>
            <a:pPr algn="l">
              <a:lnSpc>
                <a:spcPct val="100000"/>
              </a:lnSpc>
            </a:pPr>
            <a:r>
              <a:rPr sz="4400" b="0" i="0">
                <a:solidFill>
                  <a:srgbClr val="1E1D1B"/>
                </a:solidFill>
                <a:latin typeface="Georgia"/>
              </a:rPr>
              <a:t>25 fps</a:t>
            </a:r>
          </a:p>
        </p:txBody>
      </p:sp>
      <p:sp>
        <p:nvSpPr>
          <p:cNvPr id="12" name="TextBox 11"/>
          <p:cNvSpPr txBox="1"/>
          <p:nvPr/>
        </p:nvSpPr>
        <p:spPr>
          <a:xfrm>
            <a:off x="685800" y="3392021"/>
            <a:ext cx="3454298" cy="360314"/>
          </a:xfrm>
          <a:prstGeom prst="rect">
            <a:avLst/>
          </a:prstGeom>
          <a:noFill/>
        </p:spPr>
        <p:txBody>
          <a:bodyPr wrap="square" lIns="0" rIns="0" tIns="0" bIns="0">
            <a:noAutofit/>
          </a:bodyPr>
          <a:lstStyle/>
          <a:p>
            <a:pPr algn="l">
              <a:lnSpc>
                <a:spcPct val="110000"/>
              </a:lnSpc>
            </a:pPr>
            <a:r>
              <a:rPr sz="2200" b="1" i="0">
                <a:solidFill>
                  <a:srgbClr val="1E1D1B"/>
                </a:solidFill>
                <a:latin typeface="Calibri"/>
              </a:rPr>
              <a:t>Forecast horizon</a:t>
            </a:r>
          </a:p>
        </p:txBody>
      </p:sp>
      <p:sp>
        <p:nvSpPr>
          <p:cNvPr id="13" name="TextBox 12"/>
          <p:cNvSpPr txBox="1"/>
          <p:nvPr/>
        </p:nvSpPr>
        <p:spPr>
          <a:xfrm>
            <a:off x="4368698" y="3392021"/>
            <a:ext cx="3454298" cy="360314"/>
          </a:xfrm>
          <a:prstGeom prst="rect">
            <a:avLst/>
          </a:prstGeom>
          <a:noFill/>
        </p:spPr>
        <p:txBody>
          <a:bodyPr wrap="square" lIns="0" rIns="0" tIns="0" bIns="0">
            <a:noAutofit/>
          </a:bodyPr>
          <a:lstStyle/>
          <a:p>
            <a:pPr algn="l">
              <a:lnSpc>
                <a:spcPct val="110000"/>
              </a:lnSpc>
            </a:pPr>
            <a:r>
              <a:rPr sz="2200" b="1" i="0">
                <a:solidFill>
                  <a:srgbClr val="1E1D1B"/>
                </a:solidFill>
                <a:latin typeface="Calibri"/>
              </a:rPr>
              <a:t>Compute latency</a:t>
            </a:r>
          </a:p>
        </p:txBody>
      </p:sp>
      <p:sp>
        <p:nvSpPr>
          <p:cNvPr id="14" name="TextBox 13"/>
          <p:cNvSpPr txBox="1"/>
          <p:nvPr/>
        </p:nvSpPr>
        <p:spPr>
          <a:xfrm>
            <a:off x="8051596" y="3392021"/>
            <a:ext cx="3454298" cy="360314"/>
          </a:xfrm>
          <a:prstGeom prst="rect">
            <a:avLst/>
          </a:prstGeom>
          <a:noFill/>
        </p:spPr>
        <p:txBody>
          <a:bodyPr wrap="square" lIns="0" rIns="0" tIns="0" bIns="0">
            <a:noAutofit/>
          </a:bodyPr>
          <a:lstStyle/>
          <a:p>
            <a:pPr algn="l">
              <a:lnSpc>
                <a:spcPct val="110000"/>
              </a:lnSpc>
            </a:pPr>
            <a:r>
              <a:rPr sz="2200" b="1" i="0">
                <a:solidFill>
                  <a:srgbClr val="1E1D1B"/>
                </a:solidFill>
                <a:latin typeface="Calibri"/>
              </a:rPr>
              <a:t>Canvas animation</a:t>
            </a:r>
          </a:p>
        </p:txBody>
      </p:sp>
      <p:sp>
        <p:nvSpPr>
          <p:cNvPr id="15" name="TextBox 14"/>
          <p:cNvSpPr txBox="1"/>
          <p:nvPr/>
        </p:nvSpPr>
        <p:spPr>
          <a:xfrm>
            <a:off x="685800" y="3866635"/>
            <a:ext cx="3454298" cy="708659"/>
          </a:xfrm>
          <a:prstGeom prst="rect">
            <a:avLst/>
          </a:prstGeom>
          <a:noFill/>
        </p:spPr>
        <p:txBody>
          <a:bodyPr wrap="square" lIns="0" rIns="0" tIns="0" bIns="0">
            <a:noAutofit/>
          </a:bodyPr>
          <a:lstStyle/>
          <a:p>
            <a:pPr algn="l">
              <a:lnSpc>
                <a:spcPct val="125000"/>
              </a:lnSpc>
            </a:pPr>
            <a:r>
              <a:rPr sz="1800" b="0" i="0">
                <a:solidFill>
                  <a:srgbClr val="1E1D1B"/>
                </a:solidFill>
                <a:latin typeface="Calibri"/>
              </a:rPr>
              <a:t>Hourly smoke trajectory projections across the northwest corridor.</a:t>
            </a:r>
          </a:p>
        </p:txBody>
      </p:sp>
      <p:sp>
        <p:nvSpPr>
          <p:cNvPr id="16" name="TextBox 15"/>
          <p:cNvSpPr txBox="1"/>
          <p:nvPr/>
        </p:nvSpPr>
        <p:spPr>
          <a:xfrm>
            <a:off x="4368698" y="3866635"/>
            <a:ext cx="3454298" cy="708659"/>
          </a:xfrm>
          <a:prstGeom prst="rect">
            <a:avLst/>
          </a:prstGeom>
          <a:noFill/>
        </p:spPr>
        <p:txBody>
          <a:bodyPr wrap="square" lIns="0" rIns="0" tIns="0" bIns="0">
            <a:noAutofit/>
          </a:bodyPr>
          <a:lstStyle/>
          <a:p>
            <a:pPr algn="l">
              <a:lnSpc>
                <a:spcPct val="125000"/>
              </a:lnSpc>
            </a:pPr>
            <a:r>
              <a:rPr sz="1800" b="0" i="0">
                <a:solidFill>
                  <a:srgbClr val="1E1D1B"/>
                </a:solidFill>
                <a:latin typeface="Calibri"/>
              </a:rPr>
              <a:t>Full multi-fire Lagrangian dispersion computes on a single CPU core.</a:t>
            </a:r>
          </a:p>
        </p:txBody>
      </p:sp>
      <p:sp>
        <p:nvSpPr>
          <p:cNvPr id="17" name="TextBox 16"/>
          <p:cNvSpPr txBox="1"/>
          <p:nvPr/>
        </p:nvSpPr>
        <p:spPr>
          <a:xfrm>
            <a:off x="8051596" y="3866635"/>
            <a:ext cx="3454298" cy="708659"/>
          </a:xfrm>
          <a:prstGeom prst="rect">
            <a:avLst/>
          </a:prstGeom>
          <a:noFill/>
        </p:spPr>
        <p:txBody>
          <a:bodyPr wrap="square" lIns="0" rIns="0" tIns="0" bIns="0">
            <a:noAutofit/>
          </a:bodyPr>
          <a:lstStyle/>
          <a:p>
            <a:pPr algn="l">
              <a:lnSpc>
                <a:spcPct val="125000"/>
              </a:lnSpc>
            </a:pPr>
            <a:r>
              <a:rPr sz="1800" b="0" i="0">
                <a:solidFill>
                  <a:srgbClr val="1E1D1B"/>
                </a:solidFill>
                <a:latin typeface="Calibri"/>
              </a:rPr>
              <a:t>Smooth client interpolation renders hundreds of drifting smoke particles.</a:t>
            </a:r>
          </a:p>
        </p:txBody>
      </p:sp>
      <p:sp>
        <p:nvSpPr>
          <p:cNvPr id="18" name="kit:hairline:4"/>
          <p:cNvSpPr/>
          <p:nvPr/>
        </p:nvSpPr>
        <p:spPr>
          <a:xfrm>
            <a:off x="685800" y="5032495"/>
            <a:ext cx="685800" cy="25400"/>
          </a:xfrm>
          <a:prstGeom prst="rect">
            <a:avLst/>
          </a:prstGeom>
          <a:solidFill>
            <a:srgbClr val="2F5D50"/>
          </a:solidFill>
          <a:ln>
            <a:noFill/>
          </a:ln>
        </p:spPr>
        <p:txBody>
          <a:bodyPr rtlCol="0" anchor="ctr"/>
          <a:lstStyle/>
          <a:p>
            <a:pPr algn="ctr"/>
          </a:p>
        </p:txBody>
      </p:sp>
      <p:sp>
        <p:nvSpPr>
          <p:cNvPr id="19" name="TextBox 18"/>
          <p:cNvSpPr txBox="1"/>
          <p:nvPr/>
        </p:nvSpPr>
        <p:spPr>
          <a:xfrm>
            <a:off x="685800" y="5172195"/>
            <a:ext cx="10820095" cy="381101"/>
          </a:xfrm>
          <a:prstGeom prst="rect">
            <a:avLst/>
          </a:prstGeom>
          <a:noFill/>
        </p:spPr>
        <p:txBody>
          <a:bodyPr wrap="square" lIns="0" rIns="0" tIns="0" bIns="0">
            <a:noAutofit/>
          </a:bodyPr>
          <a:lstStyle/>
          <a:p>
            <a:pPr algn="l">
              <a:lnSpc>
                <a:spcPct val="125000"/>
              </a:lnSpc>
            </a:pPr>
            <a:r>
              <a:rPr sz="2200" b="0" i="0">
                <a:solidFill>
                  <a:srgbClr val="1E1D1B"/>
                </a:solidFill>
                <a:latin typeface="Calibri"/>
              </a:rPr>
              <a:t>Sub-second execution enables on-demand scenario testing without cluster infrastructure.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layout:closing">
    <p:bg>
      <p:bgPr>
        <a:solidFill>
          <a:srgbClr val="1F2523"/>
        </a:solidFill>
        <a:effectLst/>
      </p:bgPr>
    </p:bg>
    <p:spTree>
      <p:nvGrpSpPr>
        <p:cNvPr id="1" name=""/>
        <p:cNvGrpSpPr/>
        <p:nvPr/>
      </p:nvGrpSpPr>
      <p:grpSpPr/>
      <p:sp>
        <p:nvSpPr>
          <p:cNvPr id="2" name="kit:title"/>
          <p:cNvSpPr txBox="1"/>
          <p:nvPr/>
        </p:nvSpPr>
        <p:spPr>
          <a:xfrm>
            <a:off x="685800" y="1645920"/>
            <a:ext cx="8978646" cy="1828800"/>
          </a:xfrm>
          <a:prstGeom prst="rect">
            <a:avLst/>
          </a:prstGeom>
          <a:noFill/>
        </p:spPr>
        <p:txBody>
          <a:bodyPr wrap="square" lIns="0" rIns="0" tIns="0" bIns="0">
            <a:noAutofit/>
          </a:bodyPr>
          <a:lstStyle/>
          <a:p>
            <a:pPr algn="l">
              <a:lnSpc>
                <a:spcPct val="100000"/>
              </a:lnSpc>
            </a:pPr>
            <a:r>
              <a:rPr sz="6000" b="0" i="0">
                <a:solidFill>
                  <a:srgbClr val="F1EEE8"/>
                </a:solidFill>
                <a:latin typeface="Georgia"/>
              </a:rPr>
              <a:t>Ground-truth validation is the next priority</a:t>
            </a:r>
          </a:p>
        </p:txBody>
      </p:sp>
      <p:sp>
        <p:nvSpPr>
          <p:cNvPr id="3" name="TextBox 2"/>
          <p:cNvSpPr txBox="1"/>
          <p:nvPr/>
        </p:nvSpPr>
        <p:spPr>
          <a:xfrm>
            <a:off x="685800" y="3931920"/>
            <a:ext cx="8978646" cy="381101"/>
          </a:xfrm>
          <a:prstGeom prst="rect">
            <a:avLst/>
          </a:prstGeom>
          <a:noFill/>
        </p:spPr>
        <p:txBody>
          <a:bodyPr wrap="square" lIns="0" rIns="0" tIns="0" bIns="0">
            <a:noAutofit/>
          </a:bodyPr>
          <a:lstStyle/>
          <a:p>
            <a:pPr algn="l">
              <a:lnSpc>
                <a:spcPct val="125000"/>
              </a:lnSpc>
            </a:pPr>
            <a:r>
              <a:rPr sz="2200" b="0" i="0">
                <a:solidFill>
                  <a:srgbClr val="F1EEE8"/>
                </a:solidFill>
                <a:latin typeface="Calibri"/>
              </a:rPr>
              <a:t>1.  Calibrate dispersion models with historical CPCB monitors.</a:t>
            </a:r>
          </a:p>
        </p:txBody>
      </p:sp>
      <p:sp>
        <p:nvSpPr>
          <p:cNvPr id="4" name="TextBox 3"/>
          <p:cNvSpPr txBox="1"/>
          <p:nvPr/>
        </p:nvSpPr>
        <p:spPr>
          <a:xfrm>
            <a:off x="685800" y="4541621"/>
            <a:ext cx="8978646" cy="381101"/>
          </a:xfrm>
          <a:prstGeom prst="rect">
            <a:avLst/>
          </a:prstGeom>
          <a:noFill/>
        </p:spPr>
        <p:txBody>
          <a:bodyPr wrap="square" lIns="0" rIns="0" tIns="0" bIns="0">
            <a:noAutofit/>
          </a:bodyPr>
          <a:lstStyle/>
          <a:p>
            <a:pPr algn="l">
              <a:lnSpc>
                <a:spcPct val="125000"/>
              </a:lnSpc>
            </a:pPr>
            <a:r>
              <a:rPr sz="2200" b="0" i="0">
                <a:solidFill>
                  <a:srgbClr val="F1EEE8"/>
                </a:solidFill>
                <a:latin typeface="Calibri"/>
              </a:rPr>
              <a:t>2.  Automate forecast execution with a background task scheduler.</a:t>
            </a:r>
          </a:p>
        </p:txBody>
      </p:sp>
      <p:sp>
        <p:nvSpPr>
          <p:cNvPr id="5" name="TextBox 4"/>
          <p:cNvSpPr txBox="1"/>
          <p:nvPr/>
        </p:nvSpPr>
        <p:spPr>
          <a:xfrm>
            <a:off x="685800" y="5151323"/>
            <a:ext cx="8978646" cy="381101"/>
          </a:xfrm>
          <a:prstGeom prst="rect">
            <a:avLst/>
          </a:prstGeom>
          <a:noFill/>
        </p:spPr>
        <p:txBody>
          <a:bodyPr wrap="square" lIns="0" rIns="0" tIns="0" bIns="0">
            <a:noAutofit/>
          </a:bodyPr>
          <a:lstStyle/>
          <a:p>
            <a:pPr algn="l">
              <a:lnSpc>
                <a:spcPct val="125000"/>
              </a:lnSpc>
            </a:pPr>
            <a:r>
              <a:rPr sz="2200" b="0" i="0">
                <a:solidFill>
                  <a:srgbClr val="F1EEE8"/>
                </a:solidFill>
                <a:latin typeface="Calibri"/>
              </a:rPr>
              <a:t>3.  Expand receptor nodes to five neighboring urban centers.</a:t>
            </a:r>
          </a:p>
        </p:txBody>
      </p:sp>
      <p:sp>
        <p:nvSpPr>
          <p:cNvPr id="6" name="TextBox 5"/>
          <p:cNvSpPr txBox="1"/>
          <p:nvPr/>
        </p:nvSpPr>
        <p:spPr>
          <a:xfrm>
            <a:off x="685800" y="6035040"/>
            <a:ext cx="8978646" cy="238109"/>
          </a:xfrm>
          <a:prstGeom prst="rect">
            <a:avLst/>
          </a:prstGeom>
          <a:noFill/>
        </p:spPr>
        <p:txBody>
          <a:bodyPr wrap="square" lIns="0" rIns="0" tIns="0" bIns="0">
            <a:noAutofit/>
          </a:bodyPr>
          <a:lstStyle/>
          <a:p>
            <a:pPr algn="l">
              <a:lnSpc>
                <a:spcPct val="120000"/>
              </a:lnSpc>
            </a:pPr>
            <a:r>
              <a:rPr sz="1400" b="0" i="0">
                <a:solidFill>
                  <a:srgbClr val="A9B0AA"/>
                </a:solidFill>
                <a:latin typeface="Calibri"/>
              </a:rPr>
              <a:t>Smoke Horizon · github.com/coolj/smoke-horizon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ppt-design;theme=stone;density=talk</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